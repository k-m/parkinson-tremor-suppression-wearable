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3716000" cx="24384000"/>
  <p:notesSz cx="6858000" cy="9144000"/>
  <p:embeddedFontLs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30T12:59:30.914">
    <p:pos x="6000" y="0"/>
    <p:text>Regular re-administering of medication needed
Possible side effects and drug interactions 
-Karthik Jain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30T12:59:30.916">
    <p:pos x="6000" y="0"/>
    <p:text>Placement of electrodes has to be very precise
-Karthik Jain</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30T12:59:30.916">
    <p:pos x="6000" y="0"/>
    <p:text>Bulky and cumbersome
-Karthik Jain</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9-30T12:59:30.916">
    <p:pos x="6000" y="0"/>
    <p:text>The dataset that I was able to get access to only consisted of accelerometer readings and for the classification of essential tremor, sensor fusion is required to get absolute orientation in space.
Motion type is characterised based on the prevalence of tremorogenic motion.
Since resting tremors as the name suggests occur in the absence of voluntary motion, this feedback route is easy.
Instead of edge computing or cloud computing, offline computation would enable use in the absence of connectivity.
-Karthik Jain</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9-30T12:59:30.918">
    <p:pos x="6000" y="0"/>
    <p:text>The primary housing of the project is still under construction, 3D models are being created and will be printed as soon as possible
The haptic motor leads are pretty short (factory settings) but in subsequent iterations, the length will be adjusted accordingly. More haptic motors will be added and controller using a multiplexer for increased feedback intensity. 
The microcontroller, haptic motor driver, and battery charging circuit have not been soldered onto the protoboard and are connected using sockets for IC’s as the form of the circuitboard has not been finalised and the microcontroller has been sold out for more than a year (possibly due to the ongoing backlog in the semiconductor industry). This makes this iteration’s height 3x more than expected and this will be addressed in later iterations.
The wrist straps used here are velcro which will be changed to more sturdy watch-like straps. This will improve the affixation of the device on the user’s wrist and make it more comfortable to wear for longer periods of time.
-Karthik Jain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1pPr>
            <a:lvl2pPr indent="-228600" lvl="1" marL="914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2pPr>
            <a:lvl3pPr indent="-228600" lvl="2" marL="1371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3pPr>
            <a:lvl4pPr indent="-228600" lvl="3" marL="1828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4pPr>
            <a:lvl5pPr indent="-228600" lvl="4" marL="22860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5pPr>
            <a:lvl6pPr indent="-228600" lvl="5" marL="2743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6pPr>
            <a:lvl7pPr indent="-228600" lvl="6" marL="3200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7pPr>
            <a:lvl8pPr indent="-228600" lvl="7" marL="3657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8pPr>
            <a:lvl9pPr indent="-228600" lvl="8" marL="4114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showMasterSp="0" type="title">
  <p:cSld name="TITLE">
    <p:bg>
      <p:bgPr>
        <a:solidFill>
          <a:srgbClr val="222222"/>
        </a:solidFill>
      </p:bgPr>
    </p:bg>
    <p:spTree>
      <p:nvGrpSpPr>
        <p:cNvPr id="10" name="Shape 10"/>
        <p:cNvGrpSpPr/>
        <p:nvPr/>
      </p:nvGrpSpPr>
      <p:grpSpPr>
        <a:xfrm>
          <a:off x="0" y="0"/>
          <a:ext cx="0" cy="0"/>
          <a:chOff x="0" y="0"/>
          <a:chExt cx="0" cy="0"/>
        </a:xfrm>
      </p:grpSpPr>
      <p:cxnSp>
        <p:nvCxnSpPr>
          <p:cNvPr id="11" name="Google Shape;11;p2"/>
          <p:cNvCxnSpPr/>
          <p:nvPr/>
        </p:nvCxnSpPr>
        <p:spPr>
          <a:xfrm flipH="1" rot="10800000">
            <a:off x="762000" y="8635632"/>
            <a:ext cx="22859999" cy="369"/>
          </a:xfrm>
          <a:prstGeom prst="straightConnector1">
            <a:avLst/>
          </a:prstGeom>
          <a:noFill/>
          <a:ln cap="flat" cmpd="sng" w="50800">
            <a:solidFill>
              <a:srgbClr val="A6AAA9"/>
            </a:solidFill>
            <a:prstDash val="solid"/>
            <a:miter lim="4000"/>
            <a:headEnd len="sm" w="sm" type="none"/>
            <a:tailEnd len="sm" w="sm" type="none"/>
          </a:ln>
        </p:spPr>
      </p:cxnSp>
      <p:sp>
        <p:nvSpPr>
          <p:cNvPr id="12" name="Google Shape;12;p2"/>
          <p:cNvSpPr txBox="1"/>
          <p:nvPr>
            <p:ph type="title"/>
          </p:nvPr>
        </p:nvSpPr>
        <p:spPr>
          <a:xfrm>
            <a:off x="762000" y="9042400"/>
            <a:ext cx="22860000" cy="3810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chemeClr val="accent1"/>
              </a:buClr>
              <a:buSzPts val="30300"/>
              <a:buFont typeface="Arial"/>
              <a:buNone/>
              <a:defRPr sz="30300"/>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13" name="Google Shape;13;p2"/>
          <p:cNvSpPr txBox="1"/>
          <p:nvPr>
            <p:ph idx="1" type="body"/>
          </p:nvPr>
        </p:nvSpPr>
        <p:spPr>
          <a:xfrm>
            <a:off x="762000" y="5994400"/>
            <a:ext cx="22860000" cy="2540000"/>
          </a:xfrm>
          <a:prstGeom prst="rect">
            <a:avLst/>
          </a:prstGeom>
          <a:noFill/>
          <a:ln>
            <a:noFill/>
          </a:ln>
        </p:spPr>
        <p:txBody>
          <a:bodyPr anchorCtr="0" anchor="b" bIns="50800" lIns="50800" spcFirstLastPara="1" rIns="50800" wrap="square" tIns="50800">
            <a:normAutofit/>
          </a:bodyPr>
          <a:lstStyle>
            <a:lvl1pPr indent="-228600" lvl="0" marL="4572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1pPr>
            <a:lvl2pPr indent="-228600" lvl="1" marL="9144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2pPr>
            <a:lvl3pPr indent="-228600" lvl="2" marL="13716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3pPr>
            <a:lvl4pPr indent="-228600" lvl="3" marL="18288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4pPr>
            <a:lvl5pPr indent="-228600" lvl="4" marL="22860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14" name="Google Shape;14;p2"/>
          <p:cNvSpPr txBox="1"/>
          <p:nvPr>
            <p:ph idx="12" type="sldNum"/>
          </p:nvPr>
        </p:nvSpPr>
        <p:spPr>
          <a:xfrm>
            <a:off x="23063200" y="609600"/>
            <a:ext cx="553195"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type="tx">
  <p:cSld name="TITLE_AND_BODY">
    <p:bg>
      <p:bgPr>
        <a:solidFill>
          <a:srgbClr val="222222"/>
        </a:solidFill>
      </p:bgPr>
    </p:bg>
    <p:spTree>
      <p:nvGrpSpPr>
        <p:cNvPr id="15" name="Shape 15"/>
        <p:cNvGrpSpPr/>
        <p:nvPr/>
      </p:nvGrpSpPr>
      <p:grpSpPr>
        <a:xfrm>
          <a:off x="0" y="0"/>
          <a:ext cx="0" cy="0"/>
          <a:chOff x="0" y="0"/>
          <a:chExt cx="0" cy="0"/>
        </a:xfrm>
      </p:grpSpPr>
      <p:sp>
        <p:nvSpPr>
          <p:cNvPr id="16" name="Google Shape;16;p3"/>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lvl1pPr indent="-228600" lvl="0" marL="457200" algn="l">
              <a:lnSpc>
                <a:spcPct val="80000"/>
              </a:lnSpc>
              <a:spcBef>
                <a:spcPts val="0"/>
              </a:spcBef>
              <a:spcAft>
                <a:spcPts val="0"/>
              </a:spcAft>
              <a:buClr>
                <a:srgbClr val="838787"/>
              </a:buClr>
              <a:buSzPts val="3600"/>
              <a:buFont typeface="Arial"/>
              <a:buNone/>
              <a:defRPr sz="3600" cap="none">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17" name="Google Shape;17;p3"/>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3900"/>
              </a:spcBef>
              <a:spcAft>
                <a:spcPts val="0"/>
              </a:spcAft>
              <a:buClr>
                <a:schemeClr val="accent1"/>
              </a:buClr>
              <a:buSzPts val="1800"/>
              <a:buNone/>
              <a:defRPr/>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18" name="Google Shape;18;p3"/>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lvl1pPr indent="-348614" lvl="0" marL="457200" algn="l">
              <a:lnSpc>
                <a:spcPct val="100000"/>
              </a:lnSpc>
              <a:spcBef>
                <a:spcPts val="3900"/>
              </a:spcBef>
              <a:spcAft>
                <a:spcPts val="0"/>
              </a:spcAft>
              <a:buClr>
                <a:schemeClr val="accent1"/>
              </a:buClr>
              <a:buSzPts val="1890"/>
              <a:buChar char="▸"/>
              <a:defRPr/>
            </a:lvl1pPr>
            <a:lvl2pPr indent="-348614" lvl="1" marL="914400" algn="l">
              <a:lnSpc>
                <a:spcPct val="100000"/>
              </a:lnSpc>
              <a:spcBef>
                <a:spcPts val="3900"/>
              </a:spcBef>
              <a:spcAft>
                <a:spcPts val="0"/>
              </a:spcAft>
              <a:buClr>
                <a:schemeClr val="accent1"/>
              </a:buClr>
              <a:buSzPts val="1890"/>
              <a:buChar char="▸"/>
              <a:defRPr/>
            </a:lvl2pPr>
            <a:lvl3pPr indent="-348614" lvl="2" marL="1371600" algn="l">
              <a:lnSpc>
                <a:spcPct val="100000"/>
              </a:lnSpc>
              <a:spcBef>
                <a:spcPts val="3900"/>
              </a:spcBef>
              <a:spcAft>
                <a:spcPts val="0"/>
              </a:spcAft>
              <a:buClr>
                <a:schemeClr val="accent1"/>
              </a:buClr>
              <a:buSzPts val="1890"/>
              <a:buChar char="▸"/>
              <a:defRPr/>
            </a:lvl3pPr>
            <a:lvl4pPr indent="-348614" lvl="3" marL="1828800" algn="l">
              <a:lnSpc>
                <a:spcPct val="100000"/>
              </a:lnSpc>
              <a:spcBef>
                <a:spcPts val="3900"/>
              </a:spcBef>
              <a:spcAft>
                <a:spcPts val="0"/>
              </a:spcAft>
              <a:buClr>
                <a:schemeClr val="accent1"/>
              </a:buClr>
              <a:buSzPts val="1890"/>
              <a:buChar char="▸"/>
              <a:defRPr/>
            </a:lvl4pPr>
            <a:lvl5pPr indent="-348614" lvl="4" marL="2286000" algn="l">
              <a:lnSpc>
                <a:spcPct val="100000"/>
              </a:lnSpc>
              <a:spcBef>
                <a:spcPts val="3900"/>
              </a:spcBef>
              <a:spcAft>
                <a:spcPts val="0"/>
              </a:spcAft>
              <a:buClr>
                <a:schemeClr val="accent1"/>
              </a:buClr>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19" name="Google Shape;19;p3"/>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Photo - Horizontal">
    <p:bg>
      <p:bgPr>
        <a:solidFill>
          <a:srgbClr val="222222"/>
        </a:solidFill>
      </p:bgPr>
    </p:bg>
    <p:spTree>
      <p:nvGrpSpPr>
        <p:cNvPr id="20" name="Shape 20"/>
        <p:cNvGrpSpPr/>
        <p:nvPr/>
      </p:nvGrpSpPr>
      <p:grpSpPr>
        <a:xfrm>
          <a:off x="0" y="0"/>
          <a:ext cx="0" cy="0"/>
          <a:chOff x="0" y="0"/>
          <a:chExt cx="0" cy="0"/>
        </a:xfrm>
      </p:grpSpPr>
      <p:sp>
        <p:nvSpPr>
          <p:cNvPr id="21" name="Google Shape;21;p4"/>
          <p:cNvSpPr/>
          <p:nvPr>
            <p:ph idx="2" type="pic"/>
          </p:nvPr>
        </p:nvSpPr>
        <p:spPr>
          <a:xfrm>
            <a:off x="-38100" y="-1219200"/>
            <a:ext cx="24460200" cy="16145934"/>
          </a:xfrm>
          <a:prstGeom prst="rect">
            <a:avLst/>
          </a:prstGeom>
          <a:noFill/>
          <a:ln>
            <a:noFill/>
          </a:ln>
        </p:spPr>
      </p:sp>
      <p:cxnSp>
        <p:nvCxnSpPr>
          <p:cNvPr id="22" name="Google Shape;22;p4"/>
          <p:cNvCxnSpPr/>
          <p:nvPr/>
        </p:nvCxnSpPr>
        <p:spPr>
          <a:xfrm flipH="1" rot="10800000">
            <a:off x="762000" y="8635632"/>
            <a:ext cx="22859999" cy="369"/>
          </a:xfrm>
          <a:prstGeom prst="straightConnector1">
            <a:avLst/>
          </a:prstGeom>
          <a:noFill/>
          <a:ln cap="flat" cmpd="sng" w="50800">
            <a:solidFill>
              <a:srgbClr val="A6AAA9"/>
            </a:solidFill>
            <a:prstDash val="solid"/>
            <a:miter lim="4000"/>
            <a:headEnd len="sm" w="sm" type="none"/>
            <a:tailEnd len="sm" w="sm" type="none"/>
          </a:ln>
        </p:spPr>
      </p:cxnSp>
      <p:sp>
        <p:nvSpPr>
          <p:cNvPr id="23" name="Google Shape;23;p4"/>
          <p:cNvSpPr txBox="1"/>
          <p:nvPr>
            <p:ph type="title"/>
          </p:nvPr>
        </p:nvSpPr>
        <p:spPr>
          <a:xfrm>
            <a:off x="762000" y="9042400"/>
            <a:ext cx="22860000" cy="3810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chemeClr val="accent1"/>
              </a:buClr>
              <a:buSzPts val="30300"/>
              <a:buFont typeface="Arial"/>
              <a:buNone/>
              <a:defRPr sz="30300"/>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24" name="Google Shape;24;p4"/>
          <p:cNvSpPr txBox="1"/>
          <p:nvPr>
            <p:ph idx="1" type="body"/>
          </p:nvPr>
        </p:nvSpPr>
        <p:spPr>
          <a:xfrm>
            <a:off x="762000" y="5994400"/>
            <a:ext cx="22860000" cy="2540000"/>
          </a:xfrm>
          <a:prstGeom prst="rect">
            <a:avLst/>
          </a:prstGeom>
          <a:noFill/>
          <a:ln>
            <a:noFill/>
          </a:ln>
        </p:spPr>
        <p:txBody>
          <a:bodyPr anchorCtr="0" anchor="b" bIns="50800" lIns="50800" spcFirstLastPara="1" rIns="50800" wrap="square" tIns="50800">
            <a:normAutofit/>
          </a:bodyPr>
          <a:lstStyle>
            <a:lvl1pPr indent="-228600" lvl="0" marL="4572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1pPr>
            <a:lvl2pPr indent="-228600" lvl="1" marL="9144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2pPr>
            <a:lvl3pPr indent="-228600" lvl="2" marL="13716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3pPr>
            <a:lvl4pPr indent="-228600" lvl="3" marL="18288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4pPr>
            <a:lvl5pPr indent="-228600" lvl="4" marL="22860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25" name="Google Shape;25;p4"/>
          <p:cNvSpPr txBox="1"/>
          <p:nvPr>
            <p:ph idx="12" type="sldNum"/>
          </p:nvPr>
        </p:nvSpPr>
        <p:spPr>
          <a:xfrm>
            <a:off x="23063200" y="609600"/>
            <a:ext cx="553195"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Alt" showMasterSp="0">
  <p:cSld name="Title &amp; Subtitle Alt">
    <p:spTree>
      <p:nvGrpSpPr>
        <p:cNvPr id="26" name="Shape 26"/>
        <p:cNvGrpSpPr/>
        <p:nvPr/>
      </p:nvGrpSpPr>
      <p:grpSpPr>
        <a:xfrm>
          <a:off x="0" y="0"/>
          <a:ext cx="0" cy="0"/>
          <a:chOff x="0" y="0"/>
          <a:chExt cx="0" cy="0"/>
        </a:xfrm>
      </p:grpSpPr>
      <p:cxnSp>
        <p:nvCxnSpPr>
          <p:cNvPr id="27" name="Google Shape;27;p5"/>
          <p:cNvCxnSpPr/>
          <p:nvPr/>
        </p:nvCxnSpPr>
        <p:spPr>
          <a:xfrm flipH="1" rot="10800000">
            <a:off x="762000" y="8635632"/>
            <a:ext cx="22859999" cy="369"/>
          </a:xfrm>
          <a:prstGeom prst="straightConnector1">
            <a:avLst/>
          </a:prstGeom>
          <a:noFill/>
          <a:ln cap="flat" cmpd="sng" w="50800">
            <a:solidFill>
              <a:srgbClr val="A6AAA9"/>
            </a:solidFill>
            <a:prstDash val="solid"/>
            <a:miter lim="4000"/>
            <a:headEnd len="sm" w="sm" type="none"/>
            <a:tailEnd len="sm" w="sm" type="none"/>
          </a:ln>
        </p:spPr>
      </p:cxnSp>
      <p:sp>
        <p:nvSpPr>
          <p:cNvPr id="28" name="Google Shape;28;p5"/>
          <p:cNvSpPr txBox="1"/>
          <p:nvPr>
            <p:ph type="title"/>
          </p:nvPr>
        </p:nvSpPr>
        <p:spPr>
          <a:xfrm>
            <a:off x="762000" y="9042400"/>
            <a:ext cx="22860000" cy="3810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chemeClr val="accent1"/>
              </a:buClr>
              <a:buSzPts val="30300"/>
              <a:buFont typeface="Arial"/>
              <a:buNone/>
              <a:defRPr sz="30300"/>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29" name="Google Shape;29;p5"/>
          <p:cNvSpPr txBox="1"/>
          <p:nvPr>
            <p:ph idx="1" type="body"/>
          </p:nvPr>
        </p:nvSpPr>
        <p:spPr>
          <a:xfrm>
            <a:off x="762000" y="5994400"/>
            <a:ext cx="22860000" cy="2540000"/>
          </a:xfrm>
          <a:prstGeom prst="rect">
            <a:avLst/>
          </a:prstGeom>
          <a:noFill/>
          <a:ln>
            <a:noFill/>
          </a:ln>
        </p:spPr>
        <p:txBody>
          <a:bodyPr anchorCtr="0" anchor="b" bIns="50800" lIns="50800" spcFirstLastPara="1" rIns="50800" wrap="square" tIns="50800">
            <a:normAutofit/>
          </a:bodyPr>
          <a:lstStyle>
            <a:lvl1pPr indent="-228600" lvl="0" marL="4572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1pPr>
            <a:lvl2pPr indent="-228600" lvl="1" marL="9144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2pPr>
            <a:lvl3pPr indent="-228600" lvl="2" marL="13716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3pPr>
            <a:lvl4pPr indent="-228600" lvl="3" marL="18288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4pPr>
            <a:lvl5pPr indent="-228600" lvl="4" marL="22860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30" name="Google Shape;30;p5"/>
          <p:cNvSpPr txBox="1"/>
          <p:nvPr>
            <p:ph idx="12" type="sldNum"/>
          </p:nvPr>
        </p:nvSpPr>
        <p:spPr>
          <a:xfrm>
            <a:off x="23013221" y="584200"/>
            <a:ext cx="553195"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er" showMasterSp="0">
  <p:cSld name="Title - Center">
    <p:bg>
      <p:bgPr>
        <a:solidFill>
          <a:srgbClr val="222222"/>
        </a:solidFill>
      </p:bgPr>
    </p:bg>
    <p:spTree>
      <p:nvGrpSpPr>
        <p:cNvPr id="31" name="Shape 31"/>
        <p:cNvGrpSpPr/>
        <p:nvPr/>
      </p:nvGrpSpPr>
      <p:grpSpPr>
        <a:xfrm>
          <a:off x="0" y="0"/>
          <a:ext cx="0" cy="0"/>
          <a:chOff x="0" y="0"/>
          <a:chExt cx="0" cy="0"/>
        </a:xfrm>
      </p:grpSpPr>
      <p:sp>
        <p:nvSpPr>
          <p:cNvPr id="32" name="Google Shape;32;p6"/>
          <p:cNvSpPr txBox="1"/>
          <p:nvPr>
            <p:ph type="title"/>
          </p:nvPr>
        </p:nvSpPr>
        <p:spPr>
          <a:xfrm>
            <a:off x="762000" y="5676900"/>
            <a:ext cx="22860000" cy="6350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chemeClr val="accent1"/>
              </a:buClr>
              <a:buSzPts val="30300"/>
              <a:buFont typeface="Arial"/>
              <a:buNone/>
              <a:defRPr sz="30300"/>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33" name="Google Shape;33;p6"/>
          <p:cNvSpPr txBox="1"/>
          <p:nvPr>
            <p:ph idx="12" type="sldNum"/>
          </p:nvPr>
        </p:nvSpPr>
        <p:spPr>
          <a:xfrm>
            <a:off x="23063200" y="609600"/>
            <a:ext cx="553195"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Vertical" showMasterSp="0">
  <p:cSld name="Photo - Vertical">
    <p:bg>
      <p:bgPr>
        <a:solidFill>
          <a:srgbClr val="222222"/>
        </a:solidFill>
      </p:bgPr>
    </p:bg>
    <p:spTree>
      <p:nvGrpSpPr>
        <p:cNvPr id="34" name="Shape 34"/>
        <p:cNvGrpSpPr/>
        <p:nvPr/>
      </p:nvGrpSpPr>
      <p:grpSpPr>
        <a:xfrm>
          <a:off x="0" y="0"/>
          <a:ext cx="0" cy="0"/>
          <a:chOff x="0" y="0"/>
          <a:chExt cx="0" cy="0"/>
        </a:xfrm>
      </p:grpSpPr>
      <p:cxnSp>
        <p:nvCxnSpPr>
          <p:cNvPr id="35" name="Google Shape;35;p7"/>
          <p:cNvCxnSpPr/>
          <p:nvPr/>
        </p:nvCxnSpPr>
        <p:spPr>
          <a:xfrm flipH="1" rot="10800000">
            <a:off x="11049000" y="8635798"/>
            <a:ext cx="12572997" cy="203"/>
          </a:xfrm>
          <a:prstGeom prst="straightConnector1">
            <a:avLst/>
          </a:prstGeom>
          <a:noFill/>
          <a:ln cap="flat" cmpd="sng" w="50800">
            <a:solidFill>
              <a:srgbClr val="A6AAA9"/>
            </a:solidFill>
            <a:prstDash val="solid"/>
            <a:miter lim="4000"/>
            <a:headEnd len="sm" w="sm" type="none"/>
            <a:tailEnd len="sm" w="sm" type="none"/>
          </a:ln>
        </p:spPr>
      </p:cxnSp>
      <p:sp>
        <p:nvSpPr>
          <p:cNvPr id="36" name="Google Shape;36;p7"/>
          <p:cNvSpPr/>
          <p:nvPr>
            <p:ph idx="2" type="pic"/>
          </p:nvPr>
        </p:nvSpPr>
        <p:spPr>
          <a:xfrm>
            <a:off x="-190500" y="0"/>
            <a:ext cx="12428272" cy="13716000"/>
          </a:xfrm>
          <a:prstGeom prst="rect">
            <a:avLst/>
          </a:prstGeom>
          <a:noFill/>
          <a:ln>
            <a:noFill/>
          </a:ln>
        </p:spPr>
      </p:sp>
      <p:sp>
        <p:nvSpPr>
          <p:cNvPr id="37" name="Google Shape;37;p7"/>
          <p:cNvSpPr txBox="1"/>
          <p:nvPr>
            <p:ph type="title"/>
          </p:nvPr>
        </p:nvSpPr>
        <p:spPr>
          <a:xfrm>
            <a:off x="11049000" y="9042400"/>
            <a:ext cx="12573000" cy="3810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0"/>
              </a:spcBef>
              <a:spcAft>
                <a:spcPts val="0"/>
              </a:spcAft>
              <a:buClr>
                <a:schemeClr val="accent1"/>
              </a:buClr>
              <a:buSzPts val="30300"/>
              <a:buFont typeface="Arial"/>
              <a:buNone/>
              <a:defRPr sz="30300"/>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38" name="Google Shape;38;p7"/>
          <p:cNvSpPr txBox="1"/>
          <p:nvPr>
            <p:ph idx="1" type="body"/>
          </p:nvPr>
        </p:nvSpPr>
        <p:spPr>
          <a:xfrm>
            <a:off x="11049000" y="5994400"/>
            <a:ext cx="12573000" cy="2540000"/>
          </a:xfrm>
          <a:prstGeom prst="rect">
            <a:avLst/>
          </a:prstGeom>
          <a:noFill/>
          <a:ln>
            <a:noFill/>
          </a:ln>
        </p:spPr>
        <p:txBody>
          <a:bodyPr anchorCtr="0" anchor="b" bIns="50800" lIns="50800" spcFirstLastPara="1" rIns="50800" wrap="square" tIns="50800">
            <a:normAutofit/>
          </a:bodyPr>
          <a:lstStyle>
            <a:lvl1pPr indent="-228600" lvl="0" marL="4572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1pPr>
            <a:lvl2pPr indent="-228600" lvl="1" marL="9144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2pPr>
            <a:lvl3pPr indent="-228600" lvl="2" marL="13716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3pPr>
            <a:lvl4pPr indent="-228600" lvl="3" marL="18288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4pPr>
            <a:lvl5pPr indent="-228600" lvl="4" marL="2286000" algn="l">
              <a:lnSpc>
                <a:spcPct val="80000"/>
              </a:lnSpc>
              <a:spcBef>
                <a:spcPts val="3200"/>
              </a:spcBef>
              <a:spcAft>
                <a:spcPts val="0"/>
              </a:spcAft>
              <a:buClr>
                <a:srgbClr val="A6AAA9"/>
              </a:buClr>
              <a:buSzPts val="7700"/>
              <a:buFont typeface="Arial"/>
              <a:buNone/>
              <a:defRPr sz="7700" cap="none">
                <a:solidFill>
                  <a:srgbClr val="A6AAA9"/>
                </a:solidFill>
                <a:latin typeface="Arial"/>
                <a:ea typeface="Arial"/>
                <a:cs typeface="Arial"/>
                <a:sym typeface="Arial"/>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39" name="Google Shape;39;p7"/>
          <p:cNvSpPr txBox="1"/>
          <p:nvPr>
            <p:ph idx="12" type="sldNum"/>
          </p:nvPr>
        </p:nvSpPr>
        <p:spPr>
          <a:xfrm>
            <a:off x="23063200" y="609600"/>
            <a:ext cx="553195"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40" name="Shape 40"/>
        <p:cNvGrpSpPr/>
        <p:nvPr/>
      </p:nvGrpSpPr>
      <p:grpSpPr>
        <a:xfrm>
          <a:off x="0" y="0"/>
          <a:ext cx="0" cy="0"/>
          <a:chOff x="0" y="0"/>
          <a:chExt cx="0" cy="0"/>
        </a:xfrm>
      </p:grpSpPr>
      <p:sp>
        <p:nvSpPr>
          <p:cNvPr id="41" name="Google Shape;41;p8"/>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lvl1pPr indent="-228600" lvl="0" marL="457200" algn="l">
              <a:lnSpc>
                <a:spcPct val="80000"/>
              </a:lnSpc>
              <a:spcBef>
                <a:spcPts val="0"/>
              </a:spcBef>
              <a:spcAft>
                <a:spcPts val="0"/>
              </a:spcAft>
              <a:buClr>
                <a:srgbClr val="838787"/>
              </a:buClr>
              <a:buSzPts val="3600"/>
              <a:buFont typeface="Arial"/>
              <a:buNone/>
              <a:defRPr sz="3600" cap="none">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42" name="Google Shape;42;p8"/>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3900"/>
              </a:spcBef>
              <a:spcAft>
                <a:spcPts val="0"/>
              </a:spcAft>
              <a:buClr>
                <a:schemeClr val="accent1"/>
              </a:buClr>
              <a:buSzPts val="1800"/>
              <a:buNone/>
              <a:defRPr/>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43" name="Google Shape;43;p8"/>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Alt">
  <p:cSld name="Title &amp; Bullets Alt">
    <p:spTree>
      <p:nvGrpSpPr>
        <p:cNvPr id="44" name="Shape 44"/>
        <p:cNvGrpSpPr/>
        <p:nvPr/>
      </p:nvGrpSpPr>
      <p:grpSpPr>
        <a:xfrm>
          <a:off x="0" y="0"/>
          <a:ext cx="0" cy="0"/>
          <a:chOff x="0" y="0"/>
          <a:chExt cx="0" cy="0"/>
        </a:xfrm>
      </p:grpSpPr>
      <p:sp>
        <p:nvSpPr>
          <p:cNvPr id="45" name="Google Shape;45;p9"/>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lvl1pPr indent="-228600" lvl="0" marL="457200" algn="l">
              <a:lnSpc>
                <a:spcPct val="80000"/>
              </a:lnSpc>
              <a:spcBef>
                <a:spcPts val="0"/>
              </a:spcBef>
              <a:spcAft>
                <a:spcPts val="0"/>
              </a:spcAft>
              <a:buClr>
                <a:srgbClr val="838787"/>
              </a:buClr>
              <a:buSzPts val="3600"/>
              <a:buFont typeface="Arial"/>
              <a:buNone/>
              <a:defRPr sz="3600" cap="none">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46" name="Google Shape;46;p9"/>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3900"/>
              </a:spcBef>
              <a:spcAft>
                <a:spcPts val="0"/>
              </a:spcAft>
              <a:buClr>
                <a:schemeClr val="accent1"/>
              </a:buClr>
              <a:buSzPts val="1800"/>
              <a:buNone/>
              <a:defRPr/>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47" name="Google Shape;47;p9"/>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lvl1pPr indent="-348614" lvl="0" marL="457200" algn="l">
              <a:lnSpc>
                <a:spcPct val="100000"/>
              </a:lnSpc>
              <a:spcBef>
                <a:spcPts val="3900"/>
              </a:spcBef>
              <a:spcAft>
                <a:spcPts val="0"/>
              </a:spcAft>
              <a:buClr>
                <a:schemeClr val="accent1"/>
              </a:buClr>
              <a:buSzPts val="1890"/>
              <a:buChar char="▸"/>
              <a:defRPr/>
            </a:lvl1pPr>
            <a:lvl2pPr indent="-348614" lvl="1" marL="914400" algn="l">
              <a:lnSpc>
                <a:spcPct val="100000"/>
              </a:lnSpc>
              <a:spcBef>
                <a:spcPts val="3900"/>
              </a:spcBef>
              <a:spcAft>
                <a:spcPts val="0"/>
              </a:spcAft>
              <a:buClr>
                <a:schemeClr val="accent1"/>
              </a:buClr>
              <a:buSzPts val="1890"/>
              <a:buChar char="▸"/>
              <a:defRPr/>
            </a:lvl2pPr>
            <a:lvl3pPr indent="-348614" lvl="2" marL="1371600" algn="l">
              <a:lnSpc>
                <a:spcPct val="100000"/>
              </a:lnSpc>
              <a:spcBef>
                <a:spcPts val="3900"/>
              </a:spcBef>
              <a:spcAft>
                <a:spcPts val="0"/>
              </a:spcAft>
              <a:buClr>
                <a:schemeClr val="accent1"/>
              </a:buClr>
              <a:buSzPts val="1890"/>
              <a:buChar char="▸"/>
              <a:defRPr/>
            </a:lvl3pPr>
            <a:lvl4pPr indent="-348614" lvl="3" marL="1828800" algn="l">
              <a:lnSpc>
                <a:spcPct val="100000"/>
              </a:lnSpc>
              <a:spcBef>
                <a:spcPts val="3900"/>
              </a:spcBef>
              <a:spcAft>
                <a:spcPts val="0"/>
              </a:spcAft>
              <a:buClr>
                <a:schemeClr val="accent1"/>
              </a:buClr>
              <a:buSzPts val="1890"/>
              <a:buChar char="▸"/>
              <a:defRPr/>
            </a:lvl4pPr>
            <a:lvl5pPr indent="-348614" lvl="4" marL="2286000" algn="l">
              <a:lnSpc>
                <a:spcPct val="100000"/>
              </a:lnSpc>
              <a:spcBef>
                <a:spcPts val="3900"/>
              </a:spcBef>
              <a:spcAft>
                <a:spcPts val="0"/>
              </a:spcAft>
              <a:buClr>
                <a:schemeClr val="accent1"/>
              </a:buClr>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48" name="Google Shape;48;p9"/>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bg>
      <p:bgPr>
        <a:solidFill>
          <a:srgbClr val="222222"/>
        </a:solidFill>
      </p:bgPr>
    </p:bg>
    <p:spTree>
      <p:nvGrpSpPr>
        <p:cNvPr id="49" name="Shape 49"/>
        <p:cNvGrpSpPr/>
        <p:nvPr/>
      </p:nvGrpSpPr>
      <p:grpSpPr>
        <a:xfrm>
          <a:off x="0" y="0"/>
          <a:ext cx="0" cy="0"/>
          <a:chOff x="0" y="0"/>
          <a:chExt cx="0" cy="0"/>
        </a:xfrm>
      </p:grpSpPr>
      <p:sp>
        <p:nvSpPr>
          <p:cNvPr id="50" name="Google Shape;50;p10"/>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lvl1pPr indent="-228600" lvl="0" marL="457200" algn="l">
              <a:lnSpc>
                <a:spcPct val="80000"/>
              </a:lnSpc>
              <a:spcBef>
                <a:spcPts val="0"/>
              </a:spcBef>
              <a:spcAft>
                <a:spcPts val="0"/>
              </a:spcAft>
              <a:buClr>
                <a:srgbClr val="838787"/>
              </a:buClr>
              <a:buSzPts val="3600"/>
              <a:buFont typeface="Arial"/>
              <a:buNone/>
              <a:defRPr sz="3600" cap="none">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51" name="Google Shape;51;p10"/>
          <p:cNvSpPr/>
          <p:nvPr>
            <p:ph idx="2" type="pic"/>
          </p:nvPr>
        </p:nvSpPr>
        <p:spPr>
          <a:xfrm>
            <a:off x="13258800" y="0"/>
            <a:ext cx="12428272" cy="13716000"/>
          </a:xfrm>
          <a:prstGeom prst="rect">
            <a:avLst/>
          </a:prstGeom>
          <a:noFill/>
          <a:ln>
            <a:noFill/>
          </a:ln>
        </p:spPr>
      </p:sp>
      <p:sp>
        <p:nvSpPr>
          <p:cNvPr id="52" name="Google Shape;52;p10"/>
          <p:cNvSpPr txBox="1"/>
          <p:nvPr>
            <p:ph type="title"/>
          </p:nvPr>
        </p:nvSpPr>
        <p:spPr>
          <a:xfrm>
            <a:off x="762000" y="2159000"/>
            <a:ext cx="11811000" cy="1016000"/>
          </a:xfrm>
          <a:prstGeom prst="rect">
            <a:avLst/>
          </a:prstGeom>
          <a:noFill/>
          <a:ln>
            <a:noFill/>
          </a:ln>
        </p:spPr>
        <p:txBody>
          <a:bodyPr anchorCtr="0" anchor="t" bIns="50800" lIns="50800" spcFirstLastPara="1" rIns="50800" wrap="square" tIns="50800">
            <a:normAutofit/>
          </a:bodyPr>
          <a:lstStyle>
            <a:lvl1pPr lvl="0" algn="l">
              <a:lnSpc>
                <a:spcPct val="80000"/>
              </a:lnSpc>
              <a:spcBef>
                <a:spcPts val="3900"/>
              </a:spcBef>
              <a:spcAft>
                <a:spcPts val="0"/>
              </a:spcAft>
              <a:buClr>
                <a:schemeClr val="accent1"/>
              </a:buClr>
              <a:buSzPts val="1800"/>
              <a:buNone/>
              <a:defRPr/>
            </a:lvl1pPr>
            <a:lvl2pPr lvl="1" algn="l">
              <a:lnSpc>
                <a:spcPct val="80000"/>
              </a:lnSpc>
              <a:spcBef>
                <a:spcPts val="3900"/>
              </a:spcBef>
              <a:spcAft>
                <a:spcPts val="0"/>
              </a:spcAft>
              <a:buClr>
                <a:schemeClr val="accent1"/>
              </a:buClr>
              <a:buSzPts val="1800"/>
              <a:buNone/>
              <a:defRPr/>
            </a:lvl2pPr>
            <a:lvl3pPr lvl="2" algn="l">
              <a:lnSpc>
                <a:spcPct val="80000"/>
              </a:lnSpc>
              <a:spcBef>
                <a:spcPts val="3900"/>
              </a:spcBef>
              <a:spcAft>
                <a:spcPts val="0"/>
              </a:spcAft>
              <a:buClr>
                <a:schemeClr val="accent1"/>
              </a:buClr>
              <a:buSzPts val="1800"/>
              <a:buNone/>
              <a:defRPr/>
            </a:lvl3pPr>
            <a:lvl4pPr lvl="3" algn="l">
              <a:lnSpc>
                <a:spcPct val="80000"/>
              </a:lnSpc>
              <a:spcBef>
                <a:spcPts val="3900"/>
              </a:spcBef>
              <a:spcAft>
                <a:spcPts val="0"/>
              </a:spcAft>
              <a:buClr>
                <a:schemeClr val="accent1"/>
              </a:buClr>
              <a:buSzPts val="1800"/>
              <a:buNone/>
              <a:defRPr/>
            </a:lvl4pPr>
            <a:lvl5pPr lvl="4" algn="l">
              <a:lnSpc>
                <a:spcPct val="80000"/>
              </a:lnSpc>
              <a:spcBef>
                <a:spcPts val="3900"/>
              </a:spcBef>
              <a:spcAft>
                <a:spcPts val="0"/>
              </a:spcAft>
              <a:buClr>
                <a:schemeClr val="accent1"/>
              </a:buClr>
              <a:buSzPts val="1800"/>
              <a:buNone/>
              <a:defRPr/>
            </a:lvl5pPr>
            <a:lvl6pPr lvl="5" algn="l">
              <a:lnSpc>
                <a:spcPct val="80000"/>
              </a:lnSpc>
              <a:spcBef>
                <a:spcPts val="3900"/>
              </a:spcBef>
              <a:spcAft>
                <a:spcPts val="0"/>
              </a:spcAft>
              <a:buClr>
                <a:schemeClr val="accent1"/>
              </a:buClr>
              <a:buSzPts val="1800"/>
              <a:buNone/>
              <a:defRPr/>
            </a:lvl6pPr>
            <a:lvl7pPr lvl="6" algn="l">
              <a:lnSpc>
                <a:spcPct val="80000"/>
              </a:lnSpc>
              <a:spcBef>
                <a:spcPts val="3900"/>
              </a:spcBef>
              <a:spcAft>
                <a:spcPts val="0"/>
              </a:spcAft>
              <a:buClr>
                <a:schemeClr val="accent1"/>
              </a:buClr>
              <a:buSzPts val="1800"/>
              <a:buNone/>
              <a:defRPr/>
            </a:lvl7pPr>
            <a:lvl8pPr lvl="7" algn="l">
              <a:lnSpc>
                <a:spcPct val="80000"/>
              </a:lnSpc>
              <a:spcBef>
                <a:spcPts val="3900"/>
              </a:spcBef>
              <a:spcAft>
                <a:spcPts val="0"/>
              </a:spcAft>
              <a:buClr>
                <a:schemeClr val="accent1"/>
              </a:buClr>
              <a:buSzPts val="1800"/>
              <a:buNone/>
              <a:defRPr/>
            </a:lvl8pPr>
            <a:lvl9pPr lvl="8" algn="l">
              <a:lnSpc>
                <a:spcPct val="80000"/>
              </a:lnSpc>
              <a:spcBef>
                <a:spcPts val="3900"/>
              </a:spcBef>
              <a:spcAft>
                <a:spcPts val="0"/>
              </a:spcAft>
              <a:buClr>
                <a:schemeClr val="accent1"/>
              </a:buClr>
              <a:buSzPts val="1800"/>
              <a:buNone/>
              <a:defRPr/>
            </a:lvl9pPr>
          </a:lstStyle>
          <a:p/>
        </p:txBody>
      </p:sp>
      <p:sp>
        <p:nvSpPr>
          <p:cNvPr id="53" name="Google Shape;53;p10"/>
          <p:cNvSpPr txBox="1"/>
          <p:nvPr>
            <p:ph idx="3" type="body"/>
          </p:nvPr>
        </p:nvSpPr>
        <p:spPr>
          <a:xfrm>
            <a:off x="762000" y="3860800"/>
            <a:ext cx="11811000" cy="8585200"/>
          </a:xfrm>
          <a:prstGeom prst="rect">
            <a:avLst/>
          </a:prstGeom>
          <a:noFill/>
          <a:ln>
            <a:noFill/>
          </a:ln>
        </p:spPr>
        <p:txBody>
          <a:bodyPr anchorCtr="0" anchor="t" bIns="50800" lIns="50800" spcFirstLastPara="1" rIns="50800" wrap="square" tIns="50800">
            <a:normAutofit/>
          </a:bodyPr>
          <a:lstStyle>
            <a:lvl1pPr indent="-495297" lvl="0" marL="457200" algn="l">
              <a:lnSpc>
                <a:spcPct val="100000"/>
              </a:lnSpc>
              <a:spcBef>
                <a:spcPts val="3900"/>
              </a:spcBef>
              <a:spcAft>
                <a:spcPts val="0"/>
              </a:spcAft>
              <a:buClr>
                <a:schemeClr val="accent1"/>
              </a:buClr>
              <a:buSzPts val="4200"/>
              <a:buChar char="▸"/>
              <a:defRPr sz="4000">
                <a:latin typeface="Avenir"/>
                <a:ea typeface="Avenir"/>
                <a:cs typeface="Avenir"/>
                <a:sym typeface="Avenir"/>
              </a:defRPr>
            </a:lvl1pPr>
            <a:lvl2pPr indent="-495297" lvl="1" marL="914400" algn="l">
              <a:lnSpc>
                <a:spcPct val="100000"/>
              </a:lnSpc>
              <a:spcBef>
                <a:spcPts val="3900"/>
              </a:spcBef>
              <a:spcAft>
                <a:spcPts val="0"/>
              </a:spcAft>
              <a:buClr>
                <a:schemeClr val="accent1"/>
              </a:buClr>
              <a:buSzPts val="4200"/>
              <a:buChar char="▸"/>
              <a:defRPr sz="4000">
                <a:latin typeface="Avenir"/>
                <a:ea typeface="Avenir"/>
                <a:cs typeface="Avenir"/>
                <a:sym typeface="Avenir"/>
              </a:defRPr>
            </a:lvl2pPr>
            <a:lvl3pPr indent="-495297" lvl="2" marL="1371600" algn="l">
              <a:lnSpc>
                <a:spcPct val="100000"/>
              </a:lnSpc>
              <a:spcBef>
                <a:spcPts val="3900"/>
              </a:spcBef>
              <a:spcAft>
                <a:spcPts val="0"/>
              </a:spcAft>
              <a:buClr>
                <a:schemeClr val="accent1"/>
              </a:buClr>
              <a:buSzPts val="4200"/>
              <a:buChar char="▸"/>
              <a:defRPr sz="4000">
                <a:latin typeface="Avenir"/>
                <a:ea typeface="Avenir"/>
                <a:cs typeface="Avenir"/>
                <a:sym typeface="Avenir"/>
              </a:defRPr>
            </a:lvl3pPr>
            <a:lvl4pPr indent="-495297" lvl="3" marL="1828800" algn="l">
              <a:lnSpc>
                <a:spcPct val="100000"/>
              </a:lnSpc>
              <a:spcBef>
                <a:spcPts val="3900"/>
              </a:spcBef>
              <a:spcAft>
                <a:spcPts val="0"/>
              </a:spcAft>
              <a:buClr>
                <a:schemeClr val="accent1"/>
              </a:buClr>
              <a:buSzPts val="4200"/>
              <a:buChar char="▸"/>
              <a:defRPr sz="4000">
                <a:latin typeface="Avenir"/>
                <a:ea typeface="Avenir"/>
                <a:cs typeface="Avenir"/>
                <a:sym typeface="Avenir"/>
              </a:defRPr>
            </a:lvl4pPr>
            <a:lvl5pPr indent="-495297" lvl="4" marL="2286000" algn="l">
              <a:lnSpc>
                <a:spcPct val="100000"/>
              </a:lnSpc>
              <a:spcBef>
                <a:spcPts val="3900"/>
              </a:spcBef>
              <a:spcAft>
                <a:spcPts val="0"/>
              </a:spcAft>
              <a:buClr>
                <a:schemeClr val="accent1"/>
              </a:buClr>
              <a:buSzPts val="4200"/>
              <a:buChar char="▸"/>
              <a:defRPr sz="4000">
                <a:latin typeface="Avenir"/>
                <a:ea typeface="Avenir"/>
                <a:cs typeface="Avenir"/>
                <a:sym typeface="Aveni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54" name="Google Shape;54;p10"/>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bg>
      <p:bgPr>
        <a:solidFill>
          <a:srgbClr val="222222"/>
        </a:solidFill>
      </p:bgPr>
    </p:bg>
    <p:spTree>
      <p:nvGrpSpPr>
        <p:cNvPr id="55" name="Shape 55"/>
        <p:cNvGrpSpPr/>
        <p:nvPr/>
      </p:nvGrpSpPr>
      <p:grpSpPr>
        <a:xfrm>
          <a:off x="0" y="0"/>
          <a:ext cx="0" cy="0"/>
          <a:chOff x="0" y="0"/>
          <a:chExt cx="0" cy="0"/>
        </a:xfrm>
      </p:grpSpPr>
      <p:sp>
        <p:nvSpPr>
          <p:cNvPr id="56" name="Google Shape;56;p11"/>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lvl1pPr indent="-228600" lvl="0" marL="457200" algn="l">
              <a:lnSpc>
                <a:spcPct val="80000"/>
              </a:lnSpc>
              <a:spcBef>
                <a:spcPts val="0"/>
              </a:spcBef>
              <a:spcAft>
                <a:spcPts val="0"/>
              </a:spcAft>
              <a:buClr>
                <a:srgbClr val="838787"/>
              </a:buClr>
              <a:buSzPts val="3600"/>
              <a:buFont typeface="Arial"/>
              <a:buNone/>
              <a:defRPr sz="3600" cap="none">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57" name="Google Shape;57;p11"/>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lvl1pPr indent="-371475" lvl="0" marL="457200" algn="l">
              <a:lnSpc>
                <a:spcPct val="100000"/>
              </a:lnSpc>
              <a:spcBef>
                <a:spcPts val="3900"/>
              </a:spcBef>
              <a:spcAft>
                <a:spcPts val="0"/>
              </a:spcAft>
              <a:buClr>
                <a:schemeClr val="accent1"/>
              </a:buClr>
              <a:buSzPts val="2250"/>
              <a:buChar char="▸"/>
              <a:defRPr/>
            </a:lvl1pPr>
            <a:lvl2pPr indent="-371475" lvl="1" marL="914400" algn="l">
              <a:lnSpc>
                <a:spcPct val="100000"/>
              </a:lnSpc>
              <a:spcBef>
                <a:spcPts val="3900"/>
              </a:spcBef>
              <a:spcAft>
                <a:spcPts val="0"/>
              </a:spcAft>
              <a:buClr>
                <a:schemeClr val="accent1"/>
              </a:buClr>
              <a:buSzPts val="2250"/>
              <a:buChar char="▸"/>
              <a:defRPr/>
            </a:lvl2pPr>
            <a:lvl3pPr indent="-371475" lvl="2" marL="1371600" algn="l">
              <a:lnSpc>
                <a:spcPct val="100000"/>
              </a:lnSpc>
              <a:spcBef>
                <a:spcPts val="3900"/>
              </a:spcBef>
              <a:spcAft>
                <a:spcPts val="0"/>
              </a:spcAft>
              <a:buClr>
                <a:schemeClr val="accent1"/>
              </a:buClr>
              <a:buSzPts val="2250"/>
              <a:buChar char="▸"/>
              <a:defRPr/>
            </a:lvl3pPr>
            <a:lvl4pPr indent="-371475" lvl="3" marL="1828800" algn="l">
              <a:lnSpc>
                <a:spcPct val="100000"/>
              </a:lnSpc>
              <a:spcBef>
                <a:spcPts val="3900"/>
              </a:spcBef>
              <a:spcAft>
                <a:spcPts val="0"/>
              </a:spcAft>
              <a:buClr>
                <a:schemeClr val="accent1"/>
              </a:buClr>
              <a:buSzPts val="2250"/>
              <a:buChar char="▸"/>
              <a:defRPr/>
            </a:lvl4pPr>
            <a:lvl5pPr indent="-371475" lvl="4" marL="2286000" algn="l">
              <a:lnSpc>
                <a:spcPct val="100000"/>
              </a:lnSpc>
              <a:spcBef>
                <a:spcPts val="3900"/>
              </a:spcBef>
              <a:spcAft>
                <a:spcPts val="0"/>
              </a:spcAft>
              <a:buClr>
                <a:schemeClr val="accent1"/>
              </a:buClr>
              <a:buSzPts val="225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58" name="Google Shape;58;p11"/>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222222"/>
        </a:solidFill>
      </p:bgPr>
    </p:bg>
    <p:spTree>
      <p:nvGrpSpPr>
        <p:cNvPr id="59" name="Shape 59"/>
        <p:cNvGrpSpPr/>
        <p:nvPr/>
      </p:nvGrpSpPr>
      <p:grpSpPr>
        <a:xfrm>
          <a:off x="0" y="0"/>
          <a:ext cx="0" cy="0"/>
          <a:chOff x="0" y="0"/>
          <a:chExt cx="0" cy="0"/>
        </a:xfrm>
      </p:grpSpPr>
      <p:sp>
        <p:nvSpPr>
          <p:cNvPr id="60" name="Google Shape;60;p12"/>
          <p:cNvSpPr/>
          <p:nvPr>
            <p:ph idx="2" type="pic"/>
          </p:nvPr>
        </p:nvSpPr>
        <p:spPr>
          <a:xfrm>
            <a:off x="12192000" y="-177800"/>
            <a:ext cx="12192000" cy="7162800"/>
          </a:xfrm>
          <a:prstGeom prst="rect">
            <a:avLst/>
          </a:prstGeom>
          <a:noFill/>
          <a:ln>
            <a:noFill/>
          </a:ln>
        </p:spPr>
      </p:sp>
      <p:sp>
        <p:nvSpPr>
          <p:cNvPr id="61" name="Google Shape;61;p12"/>
          <p:cNvSpPr/>
          <p:nvPr>
            <p:ph idx="3" type="pic"/>
          </p:nvPr>
        </p:nvSpPr>
        <p:spPr>
          <a:xfrm>
            <a:off x="12192000" y="6451600"/>
            <a:ext cx="12192000" cy="8297334"/>
          </a:xfrm>
          <a:prstGeom prst="rect">
            <a:avLst/>
          </a:prstGeom>
          <a:noFill/>
          <a:ln>
            <a:noFill/>
          </a:ln>
        </p:spPr>
      </p:sp>
      <p:sp>
        <p:nvSpPr>
          <p:cNvPr id="62" name="Google Shape;62;p12"/>
          <p:cNvSpPr/>
          <p:nvPr>
            <p:ph idx="4" type="pic"/>
          </p:nvPr>
        </p:nvSpPr>
        <p:spPr>
          <a:xfrm>
            <a:off x="-190500" y="0"/>
            <a:ext cx="12428272" cy="13716000"/>
          </a:xfrm>
          <a:prstGeom prst="rect">
            <a:avLst/>
          </a:prstGeom>
          <a:noFill/>
          <a:ln>
            <a:noFill/>
          </a:ln>
        </p:spPr>
      </p:sp>
      <p:sp>
        <p:nvSpPr>
          <p:cNvPr id="63" name="Google Shape;63;p12"/>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solidFill>
          <a:srgbClr val="222222"/>
        </a:solidFill>
      </p:bgPr>
    </p:bg>
    <p:spTree>
      <p:nvGrpSpPr>
        <p:cNvPr id="64" name="Shape 64"/>
        <p:cNvGrpSpPr/>
        <p:nvPr/>
      </p:nvGrpSpPr>
      <p:grpSpPr>
        <a:xfrm>
          <a:off x="0" y="0"/>
          <a:ext cx="0" cy="0"/>
          <a:chOff x="0" y="0"/>
          <a:chExt cx="0" cy="0"/>
        </a:xfrm>
      </p:grpSpPr>
      <p:sp>
        <p:nvSpPr>
          <p:cNvPr id="65" name="Google Shape;65;p13"/>
          <p:cNvSpPr/>
          <p:nvPr/>
        </p:nvSpPr>
        <p:spPr>
          <a:xfrm>
            <a:off x="876300" y="3314700"/>
            <a:ext cx="22631400" cy="7317185"/>
          </a:xfrm>
          <a:custGeom>
            <a:rect b="b" l="l" r="r" t="t"/>
            <a:pathLst>
              <a:path extrusionOk="0" h="21600" w="21600">
                <a:moveTo>
                  <a:pt x="119" y="0"/>
                </a:moveTo>
                <a:cubicBezTo>
                  <a:pt x="54" y="0"/>
                  <a:pt x="0" y="165"/>
                  <a:pt x="0" y="369"/>
                </a:cubicBezTo>
                <a:lnTo>
                  <a:pt x="0" y="19013"/>
                </a:lnTo>
                <a:cubicBezTo>
                  <a:pt x="0" y="19217"/>
                  <a:pt x="54" y="19382"/>
                  <a:pt x="119" y="19382"/>
                </a:cubicBezTo>
                <a:lnTo>
                  <a:pt x="18186" y="19382"/>
                </a:lnTo>
                <a:lnTo>
                  <a:pt x="18717" y="21600"/>
                </a:lnTo>
                <a:lnTo>
                  <a:pt x="19247" y="19382"/>
                </a:lnTo>
                <a:lnTo>
                  <a:pt x="21481" y="19382"/>
                </a:lnTo>
                <a:cubicBezTo>
                  <a:pt x="21546" y="19382"/>
                  <a:pt x="21600" y="19217"/>
                  <a:pt x="21600" y="19013"/>
                </a:cubicBezTo>
                <a:lnTo>
                  <a:pt x="21600" y="369"/>
                </a:lnTo>
                <a:cubicBezTo>
                  <a:pt x="21600" y="165"/>
                  <a:pt x="21546" y="0"/>
                  <a:pt x="21481" y="0"/>
                </a:cubicBezTo>
                <a:lnTo>
                  <a:pt x="119" y="0"/>
                </a:lnTo>
                <a:close/>
              </a:path>
            </a:pathLst>
          </a:custGeom>
          <a:solidFill>
            <a:schemeClr val="accent1"/>
          </a:solid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FFFFF"/>
              </a:buClr>
              <a:buSzPts val="4000"/>
              <a:buFont typeface="Arial"/>
              <a:buNone/>
            </a:pPr>
            <a:r>
              <a:t/>
            </a:r>
            <a:endParaRPr b="0" i="0" sz="4000" u="none" cap="none" strike="noStrike">
              <a:solidFill>
                <a:srgbClr val="FFFFFF"/>
              </a:solidFill>
              <a:latin typeface="Arial"/>
              <a:ea typeface="Arial"/>
              <a:cs typeface="Arial"/>
              <a:sym typeface="Arial"/>
            </a:endParaRPr>
          </a:p>
        </p:txBody>
      </p:sp>
      <p:sp>
        <p:nvSpPr>
          <p:cNvPr id="66" name="Google Shape;66;p13"/>
          <p:cNvSpPr txBox="1"/>
          <p:nvPr>
            <p:ph idx="1" type="body"/>
          </p:nvPr>
        </p:nvSpPr>
        <p:spPr>
          <a:xfrm>
            <a:off x="1676400" y="4089400"/>
            <a:ext cx="21056600" cy="1805946"/>
          </a:xfrm>
          <a:prstGeom prst="rect">
            <a:avLst/>
          </a:prstGeom>
          <a:noFill/>
          <a:ln>
            <a:noFill/>
          </a:ln>
        </p:spPr>
        <p:txBody>
          <a:bodyPr anchorCtr="0" anchor="t" bIns="50800" lIns="50800" spcFirstLastPara="1" rIns="50800" wrap="square" tIns="50800">
            <a:spAutoFit/>
          </a:bodyPr>
          <a:lstStyle>
            <a:lvl1pPr indent="-228600" lvl="0" marL="457200" algn="l">
              <a:lnSpc>
                <a:spcPct val="80000"/>
              </a:lnSpc>
              <a:spcBef>
                <a:spcPts val="0"/>
              </a:spcBef>
              <a:spcAft>
                <a:spcPts val="0"/>
              </a:spcAft>
              <a:buClr>
                <a:srgbClr val="FFFFFF"/>
              </a:buClr>
              <a:buSzPts val="13400"/>
              <a:buFont typeface="Arial"/>
              <a:buNone/>
              <a:defRPr sz="13400" cap="none">
                <a:solidFill>
                  <a:srgbClr val="FFFFFF"/>
                </a:solidFill>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67" name="Google Shape;67;p13"/>
          <p:cNvSpPr txBox="1"/>
          <p:nvPr>
            <p:ph idx="2" type="body"/>
          </p:nvPr>
        </p:nvSpPr>
        <p:spPr>
          <a:xfrm>
            <a:off x="762000" y="10953750"/>
            <a:ext cx="22860000" cy="1206500"/>
          </a:xfrm>
          <a:prstGeom prst="rect">
            <a:avLst/>
          </a:prstGeom>
          <a:noFill/>
          <a:ln>
            <a:noFill/>
          </a:ln>
        </p:spPr>
        <p:txBody>
          <a:bodyPr anchorCtr="0" anchor="ctr" bIns="50800" lIns="50800" spcFirstLastPara="1" rIns="50800" wrap="square" tIns="50800">
            <a:spAutoFit/>
          </a:bodyPr>
          <a:lstStyle>
            <a:lvl1pPr indent="-228600" lvl="0" marL="457200" algn="r">
              <a:lnSpc>
                <a:spcPct val="80000"/>
              </a:lnSpc>
              <a:spcBef>
                <a:spcPts val="0"/>
              </a:spcBef>
              <a:spcAft>
                <a:spcPts val="0"/>
              </a:spcAft>
              <a:buClr>
                <a:srgbClr val="838787"/>
              </a:buClr>
              <a:buSzPts val="8700"/>
              <a:buFont typeface="Arial"/>
              <a:buNone/>
              <a:defRPr sz="8700">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68" name="Google Shape;68;p13"/>
          <p:cNvSpPr txBox="1"/>
          <p:nvPr>
            <p:ph idx="3"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lvl1pPr indent="-228600" lvl="0" marL="457200" algn="l">
              <a:lnSpc>
                <a:spcPct val="80000"/>
              </a:lnSpc>
              <a:spcBef>
                <a:spcPts val="0"/>
              </a:spcBef>
              <a:spcAft>
                <a:spcPts val="0"/>
              </a:spcAft>
              <a:buClr>
                <a:srgbClr val="838787"/>
              </a:buClr>
              <a:buSzPts val="3600"/>
              <a:buFont typeface="Arial"/>
              <a:buNone/>
              <a:defRPr sz="3600" cap="none">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69" name="Google Shape;69;p13"/>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lt" showMasterSp="0">
  <p:cSld name="Quote Alt">
    <p:bg>
      <p:bgPr>
        <a:solidFill>
          <a:schemeClr val="accent1"/>
        </a:solidFill>
      </p:bgPr>
    </p:bg>
    <p:spTree>
      <p:nvGrpSpPr>
        <p:cNvPr id="70" name="Shape 70"/>
        <p:cNvGrpSpPr/>
        <p:nvPr/>
      </p:nvGrpSpPr>
      <p:grpSpPr>
        <a:xfrm>
          <a:off x="0" y="0"/>
          <a:ext cx="0" cy="0"/>
          <a:chOff x="0" y="0"/>
          <a:chExt cx="0" cy="0"/>
        </a:xfrm>
      </p:grpSpPr>
      <p:sp>
        <p:nvSpPr>
          <p:cNvPr id="71" name="Google Shape;71;p14"/>
          <p:cNvSpPr txBox="1"/>
          <p:nvPr>
            <p:ph idx="1" type="body"/>
          </p:nvPr>
        </p:nvSpPr>
        <p:spPr>
          <a:xfrm>
            <a:off x="11049000" y="3721100"/>
            <a:ext cx="12573000" cy="1805946"/>
          </a:xfrm>
          <a:prstGeom prst="rect">
            <a:avLst/>
          </a:prstGeom>
          <a:noFill/>
          <a:ln>
            <a:noFill/>
          </a:ln>
        </p:spPr>
        <p:txBody>
          <a:bodyPr anchorCtr="0" anchor="t" bIns="50800" lIns="50800" spcFirstLastPara="1" rIns="50800" wrap="square" tIns="50800">
            <a:spAutoFit/>
          </a:bodyPr>
          <a:lstStyle>
            <a:lvl1pPr indent="-228600" lvl="0" marL="457200" algn="l">
              <a:lnSpc>
                <a:spcPct val="80000"/>
              </a:lnSpc>
              <a:spcBef>
                <a:spcPts val="0"/>
              </a:spcBef>
              <a:spcAft>
                <a:spcPts val="0"/>
              </a:spcAft>
              <a:buClr>
                <a:srgbClr val="FFFFFF"/>
              </a:buClr>
              <a:buSzPts val="13400"/>
              <a:buFont typeface="Arial"/>
              <a:buNone/>
              <a:defRPr sz="13400" cap="none">
                <a:solidFill>
                  <a:srgbClr val="FFFFFF"/>
                </a:solidFill>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72" name="Google Shape;72;p14"/>
          <p:cNvSpPr/>
          <p:nvPr>
            <p:ph idx="2" type="pic"/>
          </p:nvPr>
        </p:nvSpPr>
        <p:spPr>
          <a:xfrm>
            <a:off x="-190500" y="0"/>
            <a:ext cx="12428272" cy="13716000"/>
          </a:xfrm>
          <a:prstGeom prst="rect">
            <a:avLst/>
          </a:prstGeom>
          <a:noFill/>
          <a:ln>
            <a:noFill/>
          </a:ln>
        </p:spPr>
      </p:sp>
      <p:sp>
        <p:nvSpPr>
          <p:cNvPr id="73" name="Google Shape;73;p14"/>
          <p:cNvSpPr txBox="1"/>
          <p:nvPr>
            <p:ph idx="3" type="body"/>
          </p:nvPr>
        </p:nvSpPr>
        <p:spPr>
          <a:xfrm>
            <a:off x="11049000" y="10953750"/>
            <a:ext cx="12573000" cy="1206500"/>
          </a:xfrm>
          <a:prstGeom prst="rect">
            <a:avLst/>
          </a:prstGeom>
          <a:noFill/>
          <a:ln>
            <a:noFill/>
          </a:ln>
        </p:spPr>
        <p:txBody>
          <a:bodyPr anchorCtr="0" anchor="ctr" bIns="50800" lIns="50800" spcFirstLastPara="1" rIns="50800" wrap="square" tIns="50800">
            <a:spAutoFit/>
          </a:bodyPr>
          <a:lstStyle>
            <a:lvl1pPr indent="-228600" lvl="0" marL="457200" algn="l">
              <a:lnSpc>
                <a:spcPct val="100000"/>
              </a:lnSpc>
              <a:spcBef>
                <a:spcPts val="0"/>
              </a:spcBef>
              <a:spcAft>
                <a:spcPts val="0"/>
              </a:spcAft>
              <a:buClr>
                <a:srgbClr val="232323"/>
              </a:buClr>
              <a:buSzPts val="8700"/>
              <a:buFont typeface="Arial"/>
              <a:buNone/>
              <a:defRPr sz="8700">
                <a:solidFill>
                  <a:srgbClr val="232323"/>
                </a:solidFill>
                <a:latin typeface="Arial"/>
                <a:ea typeface="Arial"/>
                <a:cs typeface="Arial"/>
                <a:sym typeface="Arial"/>
              </a:defRPr>
            </a:lvl1pPr>
            <a:lvl2pPr indent="-348614" lvl="1" marL="914400" algn="l">
              <a:lnSpc>
                <a:spcPct val="100000"/>
              </a:lnSpc>
              <a:spcBef>
                <a:spcPts val="3900"/>
              </a:spcBef>
              <a:spcAft>
                <a:spcPts val="0"/>
              </a:spcAft>
              <a:buSzPts val="1890"/>
              <a:buChar char="‣"/>
              <a:defRPr/>
            </a:lvl2pPr>
            <a:lvl3pPr indent="-348614" lvl="2" marL="1371600" algn="l">
              <a:lnSpc>
                <a:spcPct val="100000"/>
              </a:lnSpc>
              <a:spcBef>
                <a:spcPts val="3900"/>
              </a:spcBef>
              <a:spcAft>
                <a:spcPts val="0"/>
              </a:spcAft>
              <a:buSzPts val="1890"/>
              <a:buChar char="‣"/>
              <a:defRPr/>
            </a:lvl3pPr>
            <a:lvl4pPr indent="-348614" lvl="3" marL="1828800" algn="l">
              <a:lnSpc>
                <a:spcPct val="100000"/>
              </a:lnSpc>
              <a:spcBef>
                <a:spcPts val="3900"/>
              </a:spcBef>
              <a:spcAft>
                <a:spcPts val="0"/>
              </a:spcAft>
              <a:buSzPts val="1890"/>
              <a:buChar char="‣"/>
              <a:defRPr/>
            </a:lvl4pPr>
            <a:lvl5pPr indent="-348614" lvl="4" marL="2286000" algn="l">
              <a:lnSpc>
                <a:spcPct val="100000"/>
              </a:lnSpc>
              <a:spcBef>
                <a:spcPts val="3900"/>
              </a:spcBef>
              <a:spcAft>
                <a:spcPts val="0"/>
              </a:spcAft>
              <a:buSzPts val="1890"/>
              <a:buChar char="‣"/>
              <a:defRPr/>
            </a:lvl5pPr>
            <a:lvl6pPr indent="-348614" lvl="5" marL="2743200" algn="l">
              <a:lnSpc>
                <a:spcPct val="100000"/>
              </a:lnSpc>
              <a:spcBef>
                <a:spcPts val="3900"/>
              </a:spcBef>
              <a:spcAft>
                <a:spcPts val="0"/>
              </a:spcAft>
              <a:buSzPts val="1890"/>
              <a:buChar char="‣"/>
              <a:defRPr/>
            </a:lvl6pPr>
            <a:lvl7pPr indent="-348614" lvl="6" marL="3200400" algn="l">
              <a:lnSpc>
                <a:spcPct val="100000"/>
              </a:lnSpc>
              <a:spcBef>
                <a:spcPts val="3900"/>
              </a:spcBef>
              <a:spcAft>
                <a:spcPts val="0"/>
              </a:spcAft>
              <a:buSzPts val="1890"/>
              <a:buChar char="‣"/>
              <a:defRPr/>
            </a:lvl7pPr>
            <a:lvl8pPr indent="-348614" lvl="7" marL="3657600" algn="l">
              <a:lnSpc>
                <a:spcPct val="100000"/>
              </a:lnSpc>
              <a:spcBef>
                <a:spcPts val="3900"/>
              </a:spcBef>
              <a:spcAft>
                <a:spcPts val="0"/>
              </a:spcAft>
              <a:buSzPts val="1890"/>
              <a:buChar char="‣"/>
              <a:defRPr/>
            </a:lvl8pPr>
            <a:lvl9pPr indent="-348614" lvl="8" marL="4114800" algn="l">
              <a:lnSpc>
                <a:spcPct val="100000"/>
              </a:lnSpc>
              <a:spcBef>
                <a:spcPts val="3900"/>
              </a:spcBef>
              <a:spcAft>
                <a:spcPts val="0"/>
              </a:spcAft>
              <a:buSzPts val="1890"/>
              <a:buChar char="‣"/>
              <a:defRPr/>
            </a:lvl9pPr>
          </a:lstStyle>
          <a:p/>
        </p:txBody>
      </p:sp>
      <p:sp>
        <p:nvSpPr>
          <p:cNvPr id="74" name="Google Shape;74;p14"/>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solidFill>
          <a:srgbClr val="222222"/>
        </a:solidFill>
      </p:bgPr>
    </p:bg>
    <p:spTree>
      <p:nvGrpSpPr>
        <p:cNvPr id="75" name="Shape 75"/>
        <p:cNvGrpSpPr/>
        <p:nvPr/>
      </p:nvGrpSpPr>
      <p:grpSpPr>
        <a:xfrm>
          <a:off x="0" y="0"/>
          <a:ext cx="0" cy="0"/>
          <a:chOff x="0" y="0"/>
          <a:chExt cx="0" cy="0"/>
        </a:xfrm>
      </p:grpSpPr>
      <p:sp>
        <p:nvSpPr>
          <p:cNvPr id="76" name="Google Shape;76;p15"/>
          <p:cNvSpPr/>
          <p:nvPr>
            <p:ph idx="2" type="pic"/>
          </p:nvPr>
        </p:nvSpPr>
        <p:spPr>
          <a:xfrm>
            <a:off x="-38100" y="-1219200"/>
            <a:ext cx="24460200" cy="16145934"/>
          </a:xfrm>
          <a:prstGeom prst="rect">
            <a:avLst/>
          </a:prstGeom>
          <a:noFill/>
          <a:ln>
            <a:noFill/>
          </a:ln>
        </p:spPr>
      </p:sp>
      <p:sp>
        <p:nvSpPr>
          <p:cNvPr id="77" name="Google Shape;77;p15"/>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rgbClr val="222222"/>
        </a:solidFill>
      </p:bgPr>
    </p:bg>
    <p:spTree>
      <p:nvGrpSpPr>
        <p:cNvPr id="78" name="Shape 78"/>
        <p:cNvGrpSpPr/>
        <p:nvPr/>
      </p:nvGrpSpPr>
      <p:grpSpPr>
        <a:xfrm>
          <a:off x="0" y="0"/>
          <a:ext cx="0" cy="0"/>
          <a:chOff x="0" y="0"/>
          <a:chExt cx="0" cy="0"/>
        </a:xfrm>
      </p:grpSpPr>
      <p:sp>
        <p:nvSpPr>
          <p:cNvPr id="79" name="Google Shape;79;p16"/>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Alt" showMasterSp="0">
  <p:cSld name="Blank Alt">
    <p:spTree>
      <p:nvGrpSpPr>
        <p:cNvPr id="80" name="Shape 80"/>
        <p:cNvGrpSpPr/>
        <p:nvPr/>
      </p:nvGrpSpPr>
      <p:grpSpPr>
        <a:xfrm>
          <a:off x="0" y="0"/>
          <a:ext cx="0" cy="0"/>
          <a:chOff x="0" y="0"/>
          <a:chExt cx="0" cy="0"/>
        </a:xfrm>
      </p:grpSpPr>
      <p:sp>
        <p:nvSpPr>
          <p:cNvPr id="81" name="Google Shape;81;p17"/>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1pPr>
            <a:lvl2pPr indent="0" lvl="1"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2pPr>
            <a:lvl3pPr indent="0" lvl="2"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3pPr>
            <a:lvl4pPr indent="0" lvl="3"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4pPr>
            <a:lvl5pPr indent="0" lvl="4"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5pPr>
            <a:lvl6pPr indent="0" lvl="5"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6pPr>
            <a:lvl7pPr indent="0" lvl="6"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7pPr>
            <a:lvl8pPr indent="0" lvl="7"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8pPr>
            <a:lvl9pPr indent="0" lvl="8" marL="0" algn="r">
              <a:lnSpc>
                <a:spcPct val="80000"/>
              </a:lnSpc>
              <a:spcBef>
                <a:spcPts val="0"/>
              </a:spcBef>
              <a:spcAft>
                <a:spcPts val="0"/>
              </a:spcAft>
              <a:buClr>
                <a:srgbClr val="838787"/>
              </a:buClr>
              <a:buSzPts val="3600"/>
              <a:buFont typeface="Arial"/>
              <a:buNone/>
              <a:defRPr sz="36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cxnSp>
        <p:nvCxnSpPr>
          <p:cNvPr id="6" name="Google Shape;6;p1"/>
          <p:cNvCxnSpPr/>
          <p:nvPr/>
        </p:nvCxnSpPr>
        <p:spPr>
          <a:xfrm flipH="1" rot="10800000">
            <a:off x="762000" y="1396632"/>
            <a:ext cx="22859999" cy="369"/>
          </a:xfrm>
          <a:prstGeom prst="straightConnector1">
            <a:avLst/>
          </a:prstGeom>
          <a:noFill/>
          <a:ln cap="flat" cmpd="sng" w="25400">
            <a:solidFill>
              <a:srgbClr val="A6AAA9"/>
            </a:solidFill>
            <a:prstDash val="solid"/>
            <a:miter lim="4000"/>
            <a:headEnd len="sm" w="sm" type="none"/>
            <a:tailEnd len="sm" w="sm" type="none"/>
          </a:ln>
        </p:spPr>
      </p:cxnSp>
      <p:sp>
        <p:nvSpPr>
          <p:cNvPr id="7" name="Google Shape;7;p1"/>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lvl1pPr lvl="0"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1pPr>
            <a:lvl2pPr lvl="1"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2pPr>
            <a:lvl3pPr lvl="2"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3pPr>
            <a:lvl4pPr lvl="3"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4pPr>
            <a:lvl5pPr lvl="4"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5pPr>
            <a:lvl6pPr lvl="5"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6pPr>
            <a:lvl7pPr lvl="6"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7pPr>
            <a:lvl8pPr lvl="7"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8pPr>
            <a:lvl9pPr lvl="8" marR="0" rtl="0" algn="l">
              <a:lnSpc>
                <a:spcPct val="80000"/>
              </a:lnSpc>
              <a:spcBef>
                <a:spcPts val="3900"/>
              </a:spcBef>
              <a:spcAft>
                <a:spcPts val="0"/>
              </a:spcAft>
              <a:buClr>
                <a:schemeClr val="accent1"/>
              </a:buClr>
              <a:buSzPts val="8700"/>
              <a:buFont typeface="Arial"/>
              <a:buNone/>
              <a:defRPr b="0" i="0" sz="8700" u="none" cap="none" strike="noStrike">
                <a:solidFill>
                  <a:schemeClr val="accent1"/>
                </a:solidFill>
                <a:latin typeface="Arial"/>
                <a:ea typeface="Arial"/>
                <a:cs typeface="Arial"/>
                <a:sym typeface="Arial"/>
              </a:defRPr>
            </a:lvl9pPr>
          </a:lstStyle>
          <a:p/>
        </p:txBody>
      </p:sp>
      <p:sp>
        <p:nvSpPr>
          <p:cNvPr id="8" name="Google Shape;8;p1"/>
          <p:cNvSpPr txBox="1"/>
          <p:nvPr>
            <p:ph idx="1"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lvl1pPr indent="-548637" lvl="0" marL="4572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1pPr>
            <a:lvl2pPr indent="-548637" lvl="1" marL="9144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2pPr>
            <a:lvl3pPr indent="-548637" lvl="2" marL="13716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3pPr>
            <a:lvl4pPr indent="-548637" lvl="3" marL="18288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4pPr>
            <a:lvl5pPr indent="-548637" lvl="4" marL="22860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5pPr>
            <a:lvl6pPr indent="-548637" lvl="5" marL="27432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6pPr>
            <a:lvl7pPr indent="-548637" lvl="6" marL="32004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7pPr>
            <a:lvl8pPr indent="-548637" lvl="7" marL="36576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8pPr>
            <a:lvl9pPr indent="-548637" lvl="8" marL="4114800" marR="0" rtl="0" algn="l">
              <a:lnSpc>
                <a:spcPct val="100000"/>
              </a:lnSpc>
              <a:spcBef>
                <a:spcPts val="3900"/>
              </a:spcBef>
              <a:spcAft>
                <a:spcPts val="0"/>
              </a:spcAft>
              <a:buClr>
                <a:srgbClr val="38A3D5"/>
              </a:buClr>
              <a:buSzPts val="5040"/>
              <a:buFont typeface="Avenir"/>
              <a:buChar char="‣"/>
              <a:defRPr b="0" i="0" sz="4800" u="none" cap="none" strike="noStrike">
                <a:solidFill>
                  <a:srgbClr val="838787"/>
                </a:solidFill>
                <a:latin typeface="Times New Roman"/>
                <a:ea typeface="Times New Roman"/>
                <a:cs typeface="Times New Roman"/>
                <a:sym typeface="Times New Roman"/>
              </a:defRPr>
            </a:lvl9pPr>
          </a:lstStyle>
          <a:p/>
        </p:txBody>
      </p:sp>
      <p:sp>
        <p:nvSpPr>
          <p:cNvPr id="9" name="Google Shape;9;p1"/>
          <p:cNvSpPr txBox="1"/>
          <p:nvPr>
            <p:ph idx="12" type="sldNum"/>
          </p:nvPr>
        </p:nvSpPr>
        <p:spPr>
          <a:xfrm>
            <a:off x="23059652" y="609600"/>
            <a:ext cx="553196" cy="635000"/>
          </a:xfrm>
          <a:prstGeom prst="rect">
            <a:avLst/>
          </a:prstGeom>
          <a:noFill/>
          <a:ln>
            <a:noFill/>
          </a:ln>
        </p:spPr>
        <p:txBody>
          <a:bodyPr anchorCtr="0" anchor="t" bIns="50800" lIns="50800" spcFirstLastPara="1" rIns="50800" wrap="square" tIns="50800">
            <a:spAutoFit/>
          </a:bodyPr>
          <a:lstStyle>
            <a:lvl1pPr indent="0" lvl="0"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1pPr>
            <a:lvl2pPr indent="0" lvl="1"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2pPr>
            <a:lvl3pPr indent="0" lvl="2"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3pPr>
            <a:lvl4pPr indent="0" lvl="3"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4pPr>
            <a:lvl5pPr indent="0" lvl="4"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5pPr>
            <a:lvl6pPr indent="0" lvl="5"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6pPr>
            <a:lvl7pPr indent="0" lvl="6"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7pPr>
            <a:lvl8pPr indent="0" lvl="7"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8pPr>
            <a:lvl9pPr indent="0" lvl="8" marL="0" marR="0" rtl="0" algn="r">
              <a:lnSpc>
                <a:spcPct val="80000"/>
              </a:lnSpc>
              <a:spcBef>
                <a:spcPts val="0"/>
              </a:spcBef>
              <a:spcAft>
                <a:spcPts val="0"/>
              </a:spcAft>
              <a:buClr>
                <a:srgbClr val="838787"/>
              </a:buClr>
              <a:buSzPts val="3600"/>
              <a:buFont typeface="Arial"/>
              <a:buNone/>
              <a:defRPr b="0" i="0" sz="3600" u="none" cap="none" strike="noStrike">
                <a:solidFill>
                  <a:srgbClr val="838787"/>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0.jpg"/><Relationship Id="rId4" Type="http://schemas.openxmlformats.org/officeDocument/2006/relationships/image" Target="../media/image7.jpg"/><Relationship Id="rId5" Type="http://schemas.openxmlformats.org/officeDocument/2006/relationships/image" Target="../media/image25.jpg"/><Relationship Id="rId6"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4.jpg"/><Relationship Id="rId5" Type="http://schemas.openxmlformats.org/officeDocument/2006/relationships/image" Target="../media/image10.jpg"/><Relationship Id="rId6" Type="http://schemas.openxmlformats.org/officeDocument/2006/relationships/image" Target="../media/image33.jpg"/><Relationship Id="rId7"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omments" Target="../comments/comment2.xml"/><Relationship Id="rId4" Type="http://schemas.openxmlformats.org/officeDocument/2006/relationships/image" Target="../media/image15.png"/><Relationship Id="rId5" Type="http://schemas.openxmlformats.org/officeDocument/2006/relationships/image" Target="../media/image5.gif"/><Relationship Id="rId6"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omments" Target="../comments/comment3.xml"/><Relationship Id="rId4" Type="http://schemas.openxmlformats.org/officeDocument/2006/relationships/image" Target="../media/image6.jpg"/><Relationship Id="rId5" Type="http://schemas.openxmlformats.org/officeDocument/2006/relationships/image" Target="../media/image3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omments" Target="../comments/commen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3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18.jpg"/><Relationship Id="rId6" Type="http://schemas.openxmlformats.org/officeDocument/2006/relationships/image" Target="../media/image3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2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comments" Target="../comments/comment5.xml"/><Relationship Id="rId4" Type="http://schemas.openxmlformats.org/officeDocument/2006/relationships/image" Target="../media/image29.jpg"/><Relationship Id="rId5" Type="http://schemas.openxmlformats.org/officeDocument/2006/relationships/image" Target="../media/image28.jpg"/><Relationship Id="rId6" Type="http://schemas.openxmlformats.org/officeDocument/2006/relationships/image" Target="../media/image38.jpg"/><Relationship Id="rId7" Type="http://schemas.openxmlformats.org/officeDocument/2006/relationships/image" Target="../media/image3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ncbi.nlm.nih.gov/pmc/articles/PMC731372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idx="4294967295" type="ctrTitle"/>
          </p:nvPr>
        </p:nvSpPr>
        <p:spPr>
          <a:xfrm>
            <a:off x="762000" y="2431025"/>
            <a:ext cx="22860000" cy="3810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14544"/>
              <a:buFont typeface="Arial"/>
              <a:buNone/>
            </a:pPr>
            <a:r>
              <a:rPr b="0" i="0" lang="en-US" sz="14544" u="none" cap="none" strike="noStrike">
                <a:solidFill>
                  <a:schemeClr val="accent1"/>
                </a:solidFill>
                <a:latin typeface="Arial"/>
                <a:ea typeface="Arial"/>
                <a:cs typeface="Arial"/>
                <a:sym typeface="Arial"/>
              </a:rPr>
              <a:t>RESTING TREMOR SUPPRESSION DEVICE</a:t>
            </a:r>
            <a:endParaRPr/>
          </a:p>
        </p:txBody>
      </p:sp>
      <p:sp>
        <p:nvSpPr>
          <p:cNvPr id="87" name="Google Shape;87;p18"/>
          <p:cNvSpPr txBox="1"/>
          <p:nvPr>
            <p:ph idx="4294967295" type="subTitle"/>
          </p:nvPr>
        </p:nvSpPr>
        <p:spPr>
          <a:xfrm>
            <a:off x="762000" y="5994400"/>
            <a:ext cx="22860000" cy="2540000"/>
          </a:xfrm>
          <a:prstGeom prst="rect">
            <a:avLst/>
          </a:prstGeom>
          <a:noFill/>
          <a:ln>
            <a:noFill/>
          </a:ln>
        </p:spPr>
        <p:txBody>
          <a:bodyPr anchorCtr="0" anchor="b" bIns="50800" lIns="50800" spcFirstLastPara="1" rIns="50800" wrap="square" tIns="50800">
            <a:normAutofit/>
          </a:bodyPr>
          <a:lstStyle/>
          <a:p>
            <a:pPr indent="0" lvl="0" marL="0" marR="0" rtl="0" algn="l">
              <a:lnSpc>
                <a:spcPct val="80000"/>
              </a:lnSpc>
              <a:spcBef>
                <a:spcPts val="0"/>
              </a:spcBef>
              <a:spcAft>
                <a:spcPts val="0"/>
              </a:spcAft>
              <a:buClr>
                <a:srgbClr val="A6AAA9"/>
              </a:buClr>
              <a:buSzPts val="7700"/>
              <a:buFont typeface="Avenir"/>
              <a:buNone/>
            </a:pPr>
            <a:r>
              <a:rPr b="0" i="0" lang="en-US" sz="7700" u="none" cap="none" strike="noStrike">
                <a:solidFill>
                  <a:srgbClr val="A6AAA9"/>
                </a:solidFill>
                <a:latin typeface="Arial"/>
                <a:ea typeface="Arial"/>
                <a:cs typeface="Arial"/>
                <a:sym typeface="Arial"/>
              </a:rPr>
              <a:t>EE300W CAPSTONE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93" name="Google Shape;93;p19"/>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TABLE OF CONTENTS</a:t>
            </a:r>
            <a:endParaRPr/>
          </a:p>
        </p:txBody>
      </p:sp>
      <p:sp>
        <p:nvSpPr>
          <p:cNvPr id="94" name="Google Shape;94;p19"/>
          <p:cNvSpPr txBox="1"/>
          <p:nvPr>
            <p:ph idx="2" type="body"/>
          </p:nvPr>
        </p:nvSpPr>
        <p:spPr>
          <a:xfrm>
            <a:off x="762000" y="2951884"/>
            <a:ext cx="22203481" cy="10435825"/>
          </a:xfrm>
          <a:prstGeom prst="rect">
            <a:avLst/>
          </a:prstGeom>
          <a:noFill/>
          <a:ln>
            <a:noFill/>
          </a:ln>
        </p:spPr>
        <p:txBody>
          <a:bodyPr anchorCtr="0" anchor="t" bIns="50800" lIns="50800" spcFirstLastPara="1" rIns="50800" wrap="square" tIns="50800">
            <a:normAutofit/>
          </a:bodyPr>
          <a:lstStyle/>
          <a:p>
            <a:pPr indent="0" lvl="0" marL="635000" rtl="0" algn="l">
              <a:lnSpc>
                <a:spcPct val="100000"/>
              </a:lnSpc>
              <a:spcBef>
                <a:spcPts val="3500"/>
              </a:spcBef>
              <a:spcAft>
                <a:spcPts val="0"/>
              </a:spcAft>
              <a:buNone/>
            </a:pPr>
            <a:r>
              <a:t/>
            </a:r>
            <a:endParaRPr sz="4319"/>
          </a:p>
          <a:p>
            <a:pPr indent="-571501" lvl="0" marL="571500" rtl="0" algn="l">
              <a:lnSpc>
                <a:spcPct val="100000"/>
              </a:lnSpc>
              <a:spcBef>
                <a:spcPts val="3500"/>
              </a:spcBef>
              <a:spcAft>
                <a:spcPts val="0"/>
              </a:spcAft>
              <a:buSzPts val="4535"/>
              <a:buChar char="▸"/>
            </a:pPr>
            <a:r>
              <a:rPr lang="en-US" sz="4319"/>
              <a:t>Introduction</a:t>
            </a:r>
            <a:endParaRPr/>
          </a:p>
          <a:p>
            <a:pPr indent="-571500" lvl="0" marL="571500" rtl="0" algn="l">
              <a:lnSpc>
                <a:spcPct val="100000"/>
              </a:lnSpc>
              <a:spcBef>
                <a:spcPts val="3500"/>
              </a:spcBef>
              <a:spcAft>
                <a:spcPts val="0"/>
              </a:spcAft>
              <a:buSzPts val="4535"/>
              <a:buChar char="▸"/>
            </a:pPr>
            <a:r>
              <a:rPr lang="en-US" sz="4319"/>
              <a:t>Treatment Options</a:t>
            </a:r>
            <a:endParaRPr/>
          </a:p>
          <a:p>
            <a:pPr indent="-571500" lvl="0" marL="571500" rtl="0" algn="l">
              <a:lnSpc>
                <a:spcPct val="100000"/>
              </a:lnSpc>
              <a:spcBef>
                <a:spcPts val="3500"/>
              </a:spcBef>
              <a:spcAft>
                <a:spcPts val="0"/>
              </a:spcAft>
              <a:buSzPts val="4535"/>
              <a:buChar char="▸"/>
            </a:pPr>
            <a:r>
              <a:rPr lang="en-US" sz="4319"/>
              <a:t>Scope &amp; Goals</a:t>
            </a:r>
            <a:endParaRPr/>
          </a:p>
          <a:p>
            <a:pPr indent="-571500" lvl="0" marL="571500" rtl="0" algn="l">
              <a:lnSpc>
                <a:spcPct val="100000"/>
              </a:lnSpc>
              <a:spcBef>
                <a:spcPts val="3500"/>
              </a:spcBef>
              <a:spcAft>
                <a:spcPts val="0"/>
              </a:spcAft>
              <a:buSzPts val="4535"/>
              <a:buChar char="▸"/>
            </a:pPr>
            <a:r>
              <a:rPr lang="en-US" sz="4319"/>
              <a:t>Selected approach</a:t>
            </a:r>
            <a:endParaRPr/>
          </a:p>
          <a:p>
            <a:pPr indent="-571500" lvl="0" marL="571500" rtl="0" algn="l">
              <a:lnSpc>
                <a:spcPct val="100000"/>
              </a:lnSpc>
              <a:spcBef>
                <a:spcPts val="3500"/>
              </a:spcBef>
              <a:spcAft>
                <a:spcPts val="0"/>
              </a:spcAft>
              <a:buSzPts val="4535"/>
              <a:buChar char="▸"/>
            </a:pPr>
            <a:r>
              <a:rPr lang="en-US" sz="4319"/>
              <a:t>Future plans</a:t>
            </a:r>
            <a:endParaRPr/>
          </a:p>
          <a:p>
            <a:pPr indent="-571500" lvl="0" marL="571500" rtl="0" algn="l">
              <a:lnSpc>
                <a:spcPct val="100000"/>
              </a:lnSpc>
              <a:spcBef>
                <a:spcPts val="3500"/>
              </a:spcBef>
              <a:spcAft>
                <a:spcPts val="0"/>
              </a:spcAft>
              <a:buSzPts val="4535"/>
              <a:buChar char="▸"/>
            </a:pPr>
            <a:r>
              <a:rPr lang="en-US" sz="4319"/>
              <a:t>References</a:t>
            </a:r>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00" name="Google Shape;100;p20"/>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INTRODUCTION</a:t>
            </a:r>
            <a:endParaRPr/>
          </a:p>
        </p:txBody>
      </p:sp>
      <p:sp>
        <p:nvSpPr>
          <p:cNvPr id="101" name="Google Shape;101;p20"/>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What is Parkinson’s disease?</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P.D. symptoms</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What is tremor?</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Different kinds of tremor</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Effects of tremor and need for suppression</a:t>
            </a:r>
            <a:endParaRPr/>
          </a:p>
        </p:txBody>
      </p:sp>
      <p:pic>
        <p:nvPicPr>
          <p:cNvPr descr="pd 2.png" id="102" name="Google Shape;102;p20"/>
          <p:cNvPicPr preferRelativeResize="0"/>
          <p:nvPr/>
        </p:nvPicPr>
        <p:blipFill rotWithShape="1">
          <a:blip r:embed="rId3">
            <a:alphaModFix/>
          </a:blip>
          <a:srcRect b="0" l="0" r="0" t="0"/>
          <a:stretch/>
        </p:blipFill>
        <p:spPr>
          <a:xfrm>
            <a:off x="13566210" y="1523633"/>
            <a:ext cx="10147301" cy="11493501"/>
          </a:xfrm>
          <a:prstGeom prst="rect">
            <a:avLst/>
          </a:prstGeom>
          <a:noFill/>
          <a:ln cap="flat" cmpd="sng" w="12700">
            <a:solidFill>
              <a:srgbClr val="F3F7F5"/>
            </a:solidFill>
            <a:prstDash val="solid"/>
            <a:miter lim="4000"/>
            <a:headEnd len="sm" w="sm" type="none"/>
            <a:tailEnd len="sm" w="sm" type="none"/>
          </a:ln>
        </p:spPr>
      </p:pic>
      <p:sp>
        <p:nvSpPr>
          <p:cNvPr id="103" name="Google Shape;103;p20"/>
          <p:cNvSpPr/>
          <p:nvPr/>
        </p:nvSpPr>
        <p:spPr>
          <a:xfrm>
            <a:off x="13559860" y="13125083"/>
            <a:ext cx="10160001"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P.D. symptoms </a:t>
            </a:r>
            <a:r>
              <a:rPr b="0" i="1" lang="en-US" sz="3000" u="none" cap="none" strike="noStrike">
                <a:solidFill>
                  <a:srgbClr val="838787"/>
                </a:solidFill>
                <a:latin typeface="Avenir"/>
                <a:ea typeface="Avenir"/>
                <a:cs typeface="Avenir"/>
                <a:sym typeface="Avenir"/>
              </a:rPr>
              <a:t>pcori</a:t>
            </a:r>
            <a:endParaRPr/>
          </a:p>
        </p:txBody>
      </p:sp>
      <p:pic>
        <p:nvPicPr>
          <p:cNvPr descr="tremor types.jpeg" id="104" name="Google Shape;104;p20"/>
          <p:cNvPicPr preferRelativeResize="0"/>
          <p:nvPr/>
        </p:nvPicPr>
        <p:blipFill rotWithShape="1">
          <a:blip r:embed="rId4">
            <a:alphaModFix/>
          </a:blip>
          <a:srcRect b="0" l="0" r="0" t="0"/>
          <a:stretch/>
        </p:blipFill>
        <p:spPr>
          <a:xfrm>
            <a:off x="2345956" y="4064000"/>
            <a:ext cx="9389019" cy="6619258"/>
          </a:xfrm>
          <a:prstGeom prst="rect">
            <a:avLst/>
          </a:prstGeom>
          <a:noFill/>
          <a:ln>
            <a:noFill/>
          </a:ln>
        </p:spPr>
      </p:pic>
      <p:sp>
        <p:nvSpPr>
          <p:cNvPr id="105" name="Google Shape;105;p20"/>
          <p:cNvSpPr/>
          <p:nvPr/>
        </p:nvSpPr>
        <p:spPr>
          <a:xfrm>
            <a:off x="2345956" y="10784857"/>
            <a:ext cx="9389019"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Rest tremor vs Action tremor </a:t>
            </a:r>
            <a:r>
              <a:rPr b="0" i="1" lang="en-US" sz="3000" u="none" cap="none" strike="noStrike">
                <a:solidFill>
                  <a:srgbClr val="838787"/>
                </a:solidFill>
                <a:latin typeface="Avenir"/>
                <a:ea typeface="Avenir"/>
                <a:cs typeface="Avenir"/>
                <a:sym typeface="Avenir"/>
              </a:rPr>
              <a:t>frontiersin</a:t>
            </a:r>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01"/>
                                        </p:tgtEl>
                                      </p:cBhvr>
                                    </p:animEffect>
                                    <p:set>
                                      <p:cBhvr>
                                        <p:cTn dur="1" fill="hold">
                                          <p:stCondLst>
                                            <p:cond delay="1000"/>
                                          </p:stCondLst>
                                        </p:cTn>
                                        <p:tgtEl>
                                          <p:spTgt spid="101"/>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000"/>
                                        <p:tgtEl>
                                          <p:spTgt spid="104"/>
                                        </p:tgtEl>
                                      </p:cBhvr>
                                    </p:animEffect>
                                  </p:childTnLst>
                                </p:cTn>
                              </p:par>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11" name="Google Shape;111;p21"/>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TREATMENT OPTIONS</a:t>
            </a:r>
            <a:endParaRPr/>
          </a:p>
        </p:txBody>
      </p:sp>
      <p:sp>
        <p:nvSpPr>
          <p:cNvPr id="112" name="Google Shape;112;p21"/>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Deep Brain Stimulation (D.B.S.)</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Allopathic Medication</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Neuromuscular Electrical Stimulation</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Passive Suppression Orthoses</a:t>
            </a:r>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18" name="Google Shape;118;p22"/>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DEEP BRAIN STIMULATION (D.B.S.)</a:t>
            </a:r>
            <a:endParaRPr/>
          </a:p>
        </p:txBody>
      </p:sp>
      <p:sp>
        <p:nvSpPr>
          <p:cNvPr id="119" name="Google Shape;119;p22"/>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Procedure:</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Electrodes implanted in the thalamus</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Signal generator implanted</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Results:</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Mean amplitude reduction: </a:t>
            </a:r>
            <a:r>
              <a:rPr b="1" lang="en-US"/>
              <a:t>54%</a:t>
            </a:r>
            <a:endParaRPr b="1"/>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Problems:</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Invasive surgery required</a:t>
            </a:r>
            <a:endParaRPr/>
          </a:p>
        </p:txBody>
      </p:sp>
      <p:pic>
        <p:nvPicPr>
          <p:cNvPr descr="dbs.jpeg" id="120" name="Google Shape;120;p22"/>
          <p:cNvPicPr preferRelativeResize="0"/>
          <p:nvPr/>
        </p:nvPicPr>
        <p:blipFill rotWithShape="1">
          <a:blip r:embed="rId3">
            <a:alphaModFix/>
          </a:blip>
          <a:srcRect b="0" l="0" r="0" t="0"/>
          <a:stretch/>
        </p:blipFill>
        <p:spPr>
          <a:xfrm>
            <a:off x="11312772" y="3656012"/>
            <a:ext cx="11384582" cy="6403828"/>
          </a:xfrm>
          <a:prstGeom prst="rect">
            <a:avLst/>
          </a:prstGeom>
          <a:noFill/>
          <a:ln cap="flat" cmpd="sng" w="12700">
            <a:solidFill>
              <a:srgbClr val="F3F7F5"/>
            </a:solidFill>
            <a:prstDash val="solid"/>
            <a:miter lim="4000"/>
            <a:headEnd len="sm" w="sm" type="none"/>
            <a:tailEnd len="sm" w="sm" type="none"/>
          </a:ln>
        </p:spPr>
      </p:pic>
      <p:sp>
        <p:nvSpPr>
          <p:cNvPr id="121" name="Google Shape;121;p22"/>
          <p:cNvSpPr/>
          <p:nvPr/>
        </p:nvSpPr>
        <p:spPr>
          <a:xfrm>
            <a:off x="11306422" y="10167937"/>
            <a:ext cx="11397457"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D.B.S. X-ray </a:t>
            </a:r>
            <a:r>
              <a:rPr b="0" i="1" lang="en-US" sz="3000" u="none" cap="none" strike="noStrike">
                <a:solidFill>
                  <a:srgbClr val="838787"/>
                </a:solidFill>
                <a:latin typeface="Avenir"/>
                <a:ea typeface="Avenir"/>
                <a:cs typeface="Avenir"/>
                <a:sym typeface="Avenir"/>
              </a:rPr>
              <a:t>medpagetoday(2021)</a:t>
            </a:r>
            <a:endParaRPr/>
          </a:p>
        </p:txBody>
      </p:sp>
      <p:pic>
        <p:nvPicPr>
          <p:cNvPr descr="Deep-Brain-Stimulation-DBS.jpeg" id="122" name="Google Shape;122;p22"/>
          <p:cNvPicPr preferRelativeResize="0"/>
          <p:nvPr/>
        </p:nvPicPr>
        <p:blipFill rotWithShape="1">
          <a:blip r:embed="rId4">
            <a:alphaModFix/>
          </a:blip>
          <a:srcRect b="0" l="0" r="0" t="0"/>
          <a:stretch/>
        </p:blipFill>
        <p:spPr>
          <a:xfrm>
            <a:off x="13455584" y="2563185"/>
            <a:ext cx="7099131" cy="8589630"/>
          </a:xfrm>
          <a:prstGeom prst="rect">
            <a:avLst/>
          </a:prstGeom>
          <a:noFill/>
          <a:ln>
            <a:noFill/>
          </a:ln>
        </p:spPr>
      </p:pic>
      <p:sp>
        <p:nvSpPr>
          <p:cNvPr id="123" name="Google Shape;123;p22"/>
          <p:cNvSpPr/>
          <p:nvPr/>
        </p:nvSpPr>
        <p:spPr>
          <a:xfrm>
            <a:off x="13455584" y="11254414"/>
            <a:ext cx="7099131"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D.B.S. components </a:t>
            </a:r>
            <a:r>
              <a:rPr b="0" i="1" lang="en-US" sz="3000" u="none" cap="none" strike="noStrike">
                <a:solidFill>
                  <a:srgbClr val="838787"/>
                </a:solidFill>
                <a:latin typeface="Avenir"/>
                <a:ea typeface="Avenir"/>
                <a:cs typeface="Avenir"/>
                <a:sym typeface="Avenir"/>
              </a:rPr>
              <a:t>parkinsonsNSW</a:t>
            </a:r>
            <a:endParaRPr/>
          </a:p>
        </p:txBody>
      </p:sp>
      <p:pic>
        <p:nvPicPr>
          <p:cNvPr descr="dbs result.jpeg" id="124" name="Google Shape;124;p22"/>
          <p:cNvPicPr preferRelativeResize="0"/>
          <p:nvPr/>
        </p:nvPicPr>
        <p:blipFill rotWithShape="1">
          <a:blip r:embed="rId5">
            <a:alphaModFix/>
          </a:blip>
          <a:srcRect b="0" l="0" r="0" t="0"/>
          <a:stretch/>
        </p:blipFill>
        <p:spPr>
          <a:xfrm>
            <a:off x="10498540" y="2706269"/>
            <a:ext cx="13013221" cy="8303462"/>
          </a:xfrm>
          <a:prstGeom prst="rect">
            <a:avLst/>
          </a:prstGeom>
          <a:noFill/>
          <a:ln cap="flat" cmpd="sng" w="12700">
            <a:solidFill>
              <a:srgbClr val="F3F7F5"/>
            </a:solidFill>
            <a:prstDash val="solid"/>
            <a:miter lim="4000"/>
            <a:headEnd len="sm" w="sm" type="none"/>
            <a:tailEnd len="sm" w="sm" type="none"/>
          </a:ln>
        </p:spPr>
      </p:pic>
      <p:sp>
        <p:nvSpPr>
          <p:cNvPr id="125" name="Google Shape;125;p22"/>
          <p:cNvSpPr/>
          <p:nvPr/>
        </p:nvSpPr>
        <p:spPr>
          <a:xfrm>
            <a:off x="10492190" y="11117680"/>
            <a:ext cx="13025921"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D.B.S. procedure and tremor amplitude graphs </a:t>
            </a:r>
            <a:r>
              <a:rPr b="0" i="1" lang="en-US" sz="3000" u="none" cap="none" strike="noStrike">
                <a:solidFill>
                  <a:srgbClr val="838787"/>
                </a:solidFill>
                <a:latin typeface="Avenir"/>
                <a:ea typeface="Avenir"/>
                <a:cs typeface="Avenir"/>
                <a:sym typeface="Avenir"/>
              </a:rPr>
              <a:t>elsevierhealth</a:t>
            </a:r>
            <a:endParaRPr/>
          </a:p>
        </p:txBody>
      </p:sp>
      <p:pic>
        <p:nvPicPr>
          <p:cNvPr descr="dbs results 2.jpg" id="126" name="Google Shape;126;p22"/>
          <p:cNvPicPr preferRelativeResize="0"/>
          <p:nvPr/>
        </p:nvPicPr>
        <p:blipFill rotWithShape="1">
          <a:blip r:embed="rId6">
            <a:alphaModFix/>
          </a:blip>
          <a:srcRect b="0" l="0" r="0" t="0"/>
          <a:stretch/>
        </p:blipFill>
        <p:spPr>
          <a:xfrm>
            <a:off x="1103835" y="3924299"/>
            <a:ext cx="9052648" cy="6619749"/>
          </a:xfrm>
          <a:prstGeom prst="rect">
            <a:avLst/>
          </a:prstGeom>
          <a:noFill/>
          <a:ln>
            <a:noFill/>
          </a:ln>
        </p:spPr>
      </p:pic>
      <p:sp>
        <p:nvSpPr>
          <p:cNvPr id="127" name="Google Shape;127;p22"/>
          <p:cNvSpPr/>
          <p:nvPr/>
        </p:nvSpPr>
        <p:spPr>
          <a:xfrm>
            <a:off x="1103835" y="10645647"/>
            <a:ext cx="9052649"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Tremor score before vs after D.B.S. procedure </a:t>
            </a:r>
            <a:r>
              <a:rPr b="0" i="1" lang="en-US" sz="3000" u="none" cap="none" strike="noStrike">
                <a:solidFill>
                  <a:srgbClr val="838787"/>
                </a:solidFill>
                <a:latin typeface="Avenir"/>
                <a:ea typeface="Avenir"/>
                <a:cs typeface="Avenir"/>
                <a:sym typeface="Avenir"/>
              </a:rPr>
              <a:t>bmj</a:t>
            </a:r>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2"/>
                                        </p:tgtEl>
                                      </p:cBhvr>
                                    </p:animEffect>
                                    <p:set>
                                      <p:cBhvr>
                                        <p:cTn dur="1" fill="hold">
                                          <p:stCondLst>
                                            <p:cond delay="1000"/>
                                          </p:stCondLst>
                                        </p:cTn>
                                        <p:tgtEl>
                                          <p:spTgt spid="12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23"/>
                                        </p:tgtEl>
                                      </p:cBhvr>
                                    </p:animEffect>
                                    <p:set>
                                      <p:cBhvr>
                                        <p:cTn dur="1" fill="hold">
                                          <p:stCondLst>
                                            <p:cond delay="1000"/>
                                          </p:stCondLst>
                                        </p:cTn>
                                        <p:tgtEl>
                                          <p:spTgt spid="123"/>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par>
                                <p:cTn fill="hold" nodeType="with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0"/>
                                        </p:tgtEl>
                                      </p:cBhvr>
                                    </p:animEffect>
                                    <p:set>
                                      <p:cBhvr>
                                        <p:cTn dur="1" fill="hold">
                                          <p:stCondLst>
                                            <p:cond delay="1000"/>
                                          </p:stCondLst>
                                        </p:cTn>
                                        <p:tgtEl>
                                          <p:spTgt spid="12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21"/>
                                        </p:tgtEl>
                                      </p:cBhvr>
                                    </p:animEffect>
                                    <p:set>
                                      <p:cBhvr>
                                        <p:cTn dur="1" fill="hold">
                                          <p:stCondLst>
                                            <p:cond delay="1000"/>
                                          </p:stCondLst>
                                        </p:cTn>
                                        <p:tgtEl>
                                          <p:spTgt spid="121"/>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19"/>
                                        </p:tgtEl>
                                      </p:cBhvr>
                                    </p:animEffect>
                                    <p:set>
                                      <p:cBhvr>
                                        <p:cTn dur="1" fill="hold">
                                          <p:stCondLst>
                                            <p:cond delay="1000"/>
                                          </p:stCondLst>
                                        </p:cTn>
                                        <p:tgtEl>
                                          <p:spTgt spid="119"/>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par>
                                <p:cTn fill="hold" nodeType="with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33" name="Google Shape;133;p23"/>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ALLOPATHIC MEDICATION</a:t>
            </a:r>
            <a:endParaRPr/>
          </a:p>
        </p:txBody>
      </p:sp>
      <p:sp>
        <p:nvSpPr>
          <p:cNvPr id="134" name="Google Shape;134;p23"/>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lnSpcReduction="10000"/>
          </a:bodyPr>
          <a:lstStyle/>
          <a:p>
            <a:pPr indent="-590550" lvl="0" marL="590550" rtl="0" algn="l">
              <a:lnSpc>
                <a:spcPct val="100000"/>
              </a:lnSpc>
              <a:spcBef>
                <a:spcPts val="0"/>
              </a:spcBef>
              <a:spcAft>
                <a:spcPts val="0"/>
              </a:spcAft>
              <a:buSzPts val="4687"/>
              <a:buChar char="▸"/>
            </a:pPr>
            <a:r>
              <a:rPr lang="en-US" sz="4464"/>
              <a:t>Mechanism:</a:t>
            </a:r>
            <a:endParaRPr/>
          </a:p>
          <a:p>
            <a:pPr indent="-590550" lvl="1" marL="1181100" rtl="0" algn="l">
              <a:lnSpc>
                <a:spcPct val="100000"/>
              </a:lnSpc>
              <a:spcBef>
                <a:spcPts val="3600"/>
              </a:spcBef>
              <a:spcAft>
                <a:spcPts val="0"/>
              </a:spcAft>
              <a:buSzPts val="4687"/>
              <a:buChar char="▸"/>
            </a:pPr>
            <a:r>
              <a:rPr lang="en-US" sz="4464"/>
              <a:t>Facilitate the production of Dopamine</a:t>
            </a:r>
            <a:endParaRPr/>
          </a:p>
          <a:p>
            <a:pPr indent="-590550" lvl="1" marL="1181100" rtl="0" algn="l">
              <a:lnSpc>
                <a:spcPct val="100000"/>
              </a:lnSpc>
              <a:spcBef>
                <a:spcPts val="3600"/>
              </a:spcBef>
              <a:spcAft>
                <a:spcPts val="0"/>
              </a:spcAft>
              <a:buSzPts val="4687"/>
              <a:buChar char="▸"/>
            </a:pPr>
            <a:r>
              <a:rPr lang="en-US" sz="4464"/>
              <a:t>Prevent the </a:t>
            </a:r>
            <a:r>
              <a:rPr lang="en-US" sz="4464"/>
              <a:t>reuptake</a:t>
            </a:r>
            <a:r>
              <a:rPr lang="en-US" sz="4464"/>
              <a:t> of Dopamine</a:t>
            </a:r>
            <a:endParaRPr/>
          </a:p>
          <a:p>
            <a:pPr indent="-590550" lvl="0" marL="590550" rtl="0" algn="l">
              <a:lnSpc>
                <a:spcPct val="100000"/>
              </a:lnSpc>
              <a:spcBef>
                <a:spcPts val="3600"/>
              </a:spcBef>
              <a:spcAft>
                <a:spcPts val="0"/>
              </a:spcAft>
              <a:buSzPts val="4687"/>
              <a:buChar char="▸"/>
            </a:pPr>
            <a:r>
              <a:rPr lang="en-US" sz="4464"/>
              <a:t>Results:</a:t>
            </a:r>
            <a:endParaRPr/>
          </a:p>
          <a:p>
            <a:pPr indent="-590550" lvl="1" marL="1181100" rtl="0" algn="l">
              <a:lnSpc>
                <a:spcPct val="100000"/>
              </a:lnSpc>
              <a:spcBef>
                <a:spcPts val="3600"/>
              </a:spcBef>
              <a:spcAft>
                <a:spcPts val="0"/>
              </a:spcAft>
              <a:buSzPts val="4687"/>
              <a:buChar char="▸"/>
            </a:pPr>
            <a:r>
              <a:rPr lang="en-US" sz="4464"/>
              <a:t>Significant reduction of symptoms </a:t>
            </a:r>
            <a:endParaRPr/>
          </a:p>
          <a:p>
            <a:pPr indent="-590550" lvl="0" marL="590550" rtl="0" algn="l">
              <a:lnSpc>
                <a:spcPct val="100000"/>
              </a:lnSpc>
              <a:spcBef>
                <a:spcPts val="3600"/>
              </a:spcBef>
              <a:spcAft>
                <a:spcPts val="0"/>
              </a:spcAft>
              <a:buSzPts val="4687"/>
              <a:buChar char="▸"/>
            </a:pPr>
            <a:r>
              <a:rPr lang="en-US" sz="4464"/>
              <a:t>Problems:</a:t>
            </a:r>
            <a:endParaRPr/>
          </a:p>
          <a:p>
            <a:pPr indent="-590550" lvl="1" marL="1181100" rtl="0" algn="l">
              <a:lnSpc>
                <a:spcPct val="100000"/>
              </a:lnSpc>
              <a:spcBef>
                <a:spcPts val="3600"/>
              </a:spcBef>
              <a:spcAft>
                <a:spcPts val="0"/>
              </a:spcAft>
              <a:buSzPts val="4687"/>
              <a:buChar char="▸"/>
            </a:pPr>
            <a:r>
              <a:rPr lang="en-US" sz="4464"/>
              <a:t>Regular re-administration of drugs needed</a:t>
            </a:r>
            <a:endParaRPr/>
          </a:p>
          <a:p>
            <a:pPr indent="-590550" lvl="1" marL="1181100" rtl="0" algn="l">
              <a:lnSpc>
                <a:spcPct val="100000"/>
              </a:lnSpc>
              <a:spcBef>
                <a:spcPts val="3600"/>
              </a:spcBef>
              <a:spcAft>
                <a:spcPts val="0"/>
              </a:spcAft>
              <a:buSzPts val="4687"/>
              <a:buChar char="▸"/>
            </a:pPr>
            <a:r>
              <a:rPr lang="en-US" sz="4464"/>
              <a:t>Possible side effects and drug interactions</a:t>
            </a:r>
            <a:endParaRPr/>
          </a:p>
        </p:txBody>
      </p:sp>
      <p:pic>
        <p:nvPicPr>
          <p:cNvPr descr="medications-parkinsons.jpeg" id="135" name="Google Shape;135;p23"/>
          <p:cNvPicPr preferRelativeResize="0"/>
          <p:nvPr/>
        </p:nvPicPr>
        <p:blipFill rotWithShape="1">
          <a:blip r:embed="rId4">
            <a:alphaModFix/>
          </a:blip>
          <a:srcRect b="0" l="0" r="0" t="0"/>
          <a:stretch/>
        </p:blipFill>
        <p:spPr>
          <a:xfrm>
            <a:off x="13751734" y="2565400"/>
            <a:ext cx="7566144" cy="8585200"/>
          </a:xfrm>
          <a:prstGeom prst="rect">
            <a:avLst/>
          </a:prstGeom>
          <a:noFill/>
          <a:ln>
            <a:noFill/>
          </a:ln>
        </p:spPr>
      </p:pic>
      <p:sp>
        <p:nvSpPr>
          <p:cNvPr id="136" name="Google Shape;136;p23"/>
          <p:cNvSpPr/>
          <p:nvPr/>
        </p:nvSpPr>
        <p:spPr>
          <a:xfrm>
            <a:off x="13751734" y="11252200"/>
            <a:ext cx="7566144" cy="1143000"/>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Working mechanism of P.D. medication </a:t>
            </a:r>
            <a:r>
              <a:rPr b="0" i="1" lang="en-US" sz="3000" u="none" cap="none" strike="noStrike">
                <a:solidFill>
                  <a:srgbClr val="838787"/>
                </a:solidFill>
                <a:latin typeface="Avenir"/>
                <a:ea typeface="Avenir"/>
                <a:cs typeface="Avenir"/>
                <a:sym typeface="Avenir"/>
              </a:rPr>
              <a:t>stemcellthailand</a:t>
            </a:r>
            <a:endParaRPr/>
          </a:p>
        </p:txBody>
      </p:sp>
      <p:pic>
        <p:nvPicPr>
          <p:cNvPr descr="neuron lack dopamine allo med.jpeg" id="137" name="Google Shape;137;p23"/>
          <p:cNvPicPr preferRelativeResize="0"/>
          <p:nvPr/>
        </p:nvPicPr>
        <p:blipFill rotWithShape="1">
          <a:blip r:embed="rId5">
            <a:alphaModFix/>
          </a:blip>
          <a:srcRect b="0" l="0" r="0" t="0"/>
          <a:stretch/>
        </p:blipFill>
        <p:spPr>
          <a:xfrm>
            <a:off x="12003361" y="3747520"/>
            <a:ext cx="11062891" cy="6220961"/>
          </a:xfrm>
          <a:prstGeom prst="rect">
            <a:avLst/>
          </a:prstGeom>
          <a:noFill/>
          <a:ln cap="flat" cmpd="sng" w="12700">
            <a:solidFill>
              <a:srgbClr val="F3F7F5"/>
            </a:solidFill>
            <a:prstDash val="solid"/>
            <a:miter lim="4000"/>
            <a:headEnd len="sm" w="sm" type="none"/>
            <a:tailEnd len="sm" w="sm" type="none"/>
          </a:ln>
        </p:spPr>
      </p:pic>
      <p:sp>
        <p:nvSpPr>
          <p:cNvPr id="138" name="Google Shape;138;p23"/>
          <p:cNvSpPr/>
          <p:nvPr/>
        </p:nvSpPr>
        <p:spPr>
          <a:xfrm>
            <a:off x="11997011" y="10076430"/>
            <a:ext cx="11075591"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Base cause of P.D. </a:t>
            </a:r>
            <a:r>
              <a:rPr b="0" i="1" lang="en-US" sz="3000" u="none" cap="none" strike="noStrike">
                <a:solidFill>
                  <a:srgbClr val="838787"/>
                </a:solidFill>
                <a:latin typeface="Avenir"/>
                <a:ea typeface="Avenir"/>
                <a:cs typeface="Avenir"/>
                <a:sym typeface="Avenir"/>
              </a:rPr>
              <a:t>everydayhealth</a:t>
            </a:r>
            <a:r>
              <a:rPr b="0" i="0" lang="en-US" sz="3000" u="none" cap="none" strike="noStrike">
                <a:solidFill>
                  <a:srgbClr val="838787"/>
                </a:solidFill>
                <a:latin typeface="Avenir"/>
                <a:ea typeface="Avenir"/>
                <a:cs typeface="Avenir"/>
                <a:sym typeface="Avenir"/>
              </a:rPr>
              <a:t> </a:t>
            </a:r>
            <a:endParaRPr/>
          </a:p>
        </p:txBody>
      </p:sp>
      <p:pic>
        <p:nvPicPr>
          <p:cNvPr descr="pd medication.jpeg" id="139" name="Google Shape;139;p23"/>
          <p:cNvPicPr preferRelativeResize="0"/>
          <p:nvPr/>
        </p:nvPicPr>
        <p:blipFill rotWithShape="1">
          <a:blip r:embed="rId6">
            <a:alphaModFix/>
          </a:blip>
          <a:srcRect b="0" l="0" r="0" t="0"/>
          <a:stretch/>
        </p:blipFill>
        <p:spPr>
          <a:xfrm>
            <a:off x="12692750" y="4064000"/>
            <a:ext cx="9684113" cy="4328505"/>
          </a:xfrm>
          <a:prstGeom prst="rect">
            <a:avLst/>
          </a:prstGeom>
          <a:noFill/>
          <a:ln>
            <a:noFill/>
          </a:ln>
        </p:spPr>
      </p:pic>
      <p:sp>
        <p:nvSpPr>
          <p:cNvPr id="140" name="Google Shape;140;p23"/>
          <p:cNvSpPr/>
          <p:nvPr/>
        </p:nvSpPr>
        <p:spPr>
          <a:xfrm>
            <a:off x="12692750" y="8494104"/>
            <a:ext cx="9684113" cy="11430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Administration of P.D. medication vs symptom severity </a:t>
            </a:r>
            <a:r>
              <a:rPr b="0" i="1" lang="en-US" sz="3000" u="none" cap="none" strike="noStrike">
                <a:solidFill>
                  <a:srgbClr val="838787"/>
                </a:solidFill>
                <a:latin typeface="Avenir"/>
                <a:ea typeface="Avenir"/>
                <a:cs typeface="Avenir"/>
                <a:sym typeface="Avenir"/>
              </a:rPr>
              <a:t>epda</a:t>
            </a:r>
            <a:endParaRPr/>
          </a:p>
        </p:txBody>
      </p:sp>
      <p:pic>
        <p:nvPicPr>
          <p:cNvPr descr="medication results.jpeg" id="141" name="Google Shape;141;p23"/>
          <p:cNvPicPr preferRelativeResize="0"/>
          <p:nvPr/>
        </p:nvPicPr>
        <p:blipFill rotWithShape="1">
          <a:blip r:embed="rId7">
            <a:alphaModFix/>
          </a:blip>
          <a:srcRect b="0" l="0" r="0" t="0"/>
          <a:stretch/>
        </p:blipFill>
        <p:spPr>
          <a:xfrm>
            <a:off x="12692750" y="3290169"/>
            <a:ext cx="9684113" cy="7135662"/>
          </a:xfrm>
          <a:prstGeom prst="rect">
            <a:avLst/>
          </a:prstGeom>
          <a:noFill/>
          <a:ln>
            <a:noFill/>
          </a:ln>
        </p:spPr>
      </p:pic>
      <p:sp>
        <p:nvSpPr>
          <p:cNvPr id="142" name="Google Shape;142;p23"/>
          <p:cNvSpPr/>
          <p:nvPr/>
        </p:nvSpPr>
        <p:spPr>
          <a:xfrm>
            <a:off x="12692750" y="10527430"/>
            <a:ext cx="9684113"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Change in tremor score vs medication dose </a:t>
            </a:r>
            <a:r>
              <a:rPr b="0" i="1" lang="en-US" sz="3000" u="none" cap="none" strike="noStrike">
                <a:solidFill>
                  <a:srgbClr val="838787"/>
                </a:solidFill>
                <a:latin typeface="Avenir"/>
                <a:ea typeface="Avenir"/>
                <a:cs typeface="Avenir"/>
                <a:sym typeface="Avenir"/>
              </a:rPr>
              <a:t>nejm</a:t>
            </a:r>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par>
                                <p:cTn fill="hold" nodeType="with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37"/>
                                        </p:tgtEl>
                                      </p:cBhvr>
                                    </p:animEffect>
                                    <p:set>
                                      <p:cBhvr>
                                        <p:cTn dur="1" fill="hold">
                                          <p:stCondLst>
                                            <p:cond delay="1000"/>
                                          </p:stCondLst>
                                        </p:cTn>
                                        <p:tgtEl>
                                          <p:spTgt spid="13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38"/>
                                        </p:tgtEl>
                                      </p:cBhvr>
                                    </p:animEffect>
                                    <p:set>
                                      <p:cBhvr>
                                        <p:cTn dur="1" fill="hold">
                                          <p:stCondLst>
                                            <p:cond delay="1000"/>
                                          </p:stCondLst>
                                        </p:cTn>
                                        <p:tgtEl>
                                          <p:spTgt spid="138"/>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35"/>
                                        </p:tgtEl>
                                      </p:cBhvr>
                                    </p:animEffect>
                                    <p:set>
                                      <p:cBhvr>
                                        <p:cTn dur="1" fill="hold">
                                          <p:stCondLst>
                                            <p:cond delay="1000"/>
                                          </p:stCondLst>
                                        </p:cTn>
                                        <p:tgtEl>
                                          <p:spTgt spid="1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36"/>
                                        </p:tgtEl>
                                      </p:cBhvr>
                                    </p:animEffect>
                                    <p:set>
                                      <p:cBhvr>
                                        <p:cTn dur="1" fill="hold">
                                          <p:stCondLst>
                                            <p:cond delay="1000"/>
                                          </p:stCondLst>
                                        </p:cTn>
                                        <p:tgtEl>
                                          <p:spTgt spid="136"/>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39"/>
                                        </p:tgtEl>
                                      </p:cBhvr>
                                    </p:animEffect>
                                    <p:set>
                                      <p:cBhvr>
                                        <p:cTn dur="1" fill="hold">
                                          <p:stCondLst>
                                            <p:cond delay="1000"/>
                                          </p:stCondLst>
                                        </p:cTn>
                                        <p:tgtEl>
                                          <p:spTgt spid="13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40"/>
                                        </p:tgtEl>
                                      </p:cBhvr>
                                    </p:animEffect>
                                    <p:set>
                                      <p:cBhvr>
                                        <p:cTn dur="1" fill="hold">
                                          <p:stCondLst>
                                            <p:cond delay="1000"/>
                                          </p:stCondLst>
                                        </p:cTn>
                                        <p:tgtEl>
                                          <p:spTgt spid="140"/>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48" name="Google Shape;148;p24"/>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NEUROMUSCULAR ELECTRICAL STIMULATION</a:t>
            </a:r>
            <a:endParaRPr/>
          </a:p>
        </p:txBody>
      </p:sp>
      <p:sp>
        <p:nvSpPr>
          <p:cNvPr id="149" name="Google Shape;149;p24"/>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514350" lvl="0" marL="514350" rtl="0" algn="l">
              <a:lnSpc>
                <a:spcPct val="100000"/>
              </a:lnSpc>
              <a:spcBef>
                <a:spcPts val="0"/>
              </a:spcBef>
              <a:spcAft>
                <a:spcPts val="0"/>
              </a:spcAft>
              <a:buSzPts val="4082"/>
              <a:buChar char="▸"/>
            </a:pPr>
            <a:r>
              <a:rPr lang="en-US" sz="3888"/>
              <a:t>Types:</a:t>
            </a:r>
            <a:endParaRPr/>
          </a:p>
          <a:p>
            <a:pPr indent="-514350" lvl="1" marL="1028700" rtl="0" algn="l">
              <a:lnSpc>
                <a:spcPct val="100000"/>
              </a:lnSpc>
              <a:spcBef>
                <a:spcPts val="3100"/>
              </a:spcBef>
              <a:spcAft>
                <a:spcPts val="0"/>
              </a:spcAft>
              <a:buSzPts val="4082"/>
              <a:buChar char="▸"/>
            </a:pPr>
            <a:r>
              <a:rPr lang="en-US" sz="3888"/>
              <a:t>Primarily Peripheral Nerve Stimulation and Electrical Muscular Stimulation</a:t>
            </a:r>
            <a:endParaRPr/>
          </a:p>
          <a:p>
            <a:pPr indent="-514350" lvl="0" marL="514350" rtl="0" algn="l">
              <a:lnSpc>
                <a:spcPct val="100000"/>
              </a:lnSpc>
              <a:spcBef>
                <a:spcPts val="3100"/>
              </a:spcBef>
              <a:spcAft>
                <a:spcPts val="0"/>
              </a:spcAft>
              <a:buSzPts val="4082"/>
              <a:buChar char="▸"/>
            </a:pPr>
            <a:r>
              <a:rPr lang="en-US" sz="3888"/>
              <a:t>Mechanism: </a:t>
            </a:r>
            <a:endParaRPr/>
          </a:p>
          <a:p>
            <a:pPr indent="-514350" lvl="1" marL="1028700" rtl="0" algn="l">
              <a:lnSpc>
                <a:spcPct val="100000"/>
              </a:lnSpc>
              <a:spcBef>
                <a:spcPts val="3100"/>
              </a:spcBef>
              <a:spcAft>
                <a:spcPts val="0"/>
              </a:spcAft>
              <a:buSzPts val="4082"/>
              <a:buChar char="▸"/>
            </a:pPr>
            <a:r>
              <a:rPr lang="en-US" sz="3888"/>
              <a:t>Trigger muscular reactions</a:t>
            </a:r>
            <a:endParaRPr/>
          </a:p>
          <a:p>
            <a:pPr indent="-514350" lvl="1" marL="1028700" rtl="0" algn="l">
              <a:lnSpc>
                <a:spcPct val="100000"/>
              </a:lnSpc>
              <a:spcBef>
                <a:spcPts val="3100"/>
              </a:spcBef>
              <a:spcAft>
                <a:spcPts val="0"/>
              </a:spcAft>
              <a:buSzPts val="4082"/>
              <a:buChar char="▸"/>
            </a:pPr>
            <a:r>
              <a:rPr lang="en-US" sz="3888"/>
              <a:t>Tremor characteristics influence stimulus</a:t>
            </a:r>
            <a:endParaRPr/>
          </a:p>
          <a:p>
            <a:pPr indent="-514350" lvl="0" marL="514350" rtl="0" algn="l">
              <a:lnSpc>
                <a:spcPct val="100000"/>
              </a:lnSpc>
              <a:spcBef>
                <a:spcPts val="3100"/>
              </a:spcBef>
              <a:spcAft>
                <a:spcPts val="0"/>
              </a:spcAft>
              <a:buSzPts val="4082"/>
              <a:buChar char="▸"/>
            </a:pPr>
            <a:r>
              <a:rPr lang="en-US" sz="3888"/>
              <a:t>Results:</a:t>
            </a:r>
            <a:endParaRPr/>
          </a:p>
          <a:p>
            <a:pPr indent="-514350" lvl="1" marL="1028700" rtl="0" algn="l">
              <a:lnSpc>
                <a:spcPct val="100000"/>
              </a:lnSpc>
              <a:spcBef>
                <a:spcPts val="3100"/>
              </a:spcBef>
              <a:spcAft>
                <a:spcPts val="0"/>
              </a:spcAft>
              <a:buSzPts val="4082"/>
              <a:buChar char="▸"/>
            </a:pPr>
            <a:r>
              <a:rPr lang="en-US" sz="3888"/>
              <a:t>Moderate reduction in tremor motion</a:t>
            </a:r>
            <a:endParaRPr/>
          </a:p>
          <a:p>
            <a:pPr indent="-514350" lvl="0" marL="514350" rtl="0" algn="l">
              <a:lnSpc>
                <a:spcPct val="100000"/>
              </a:lnSpc>
              <a:spcBef>
                <a:spcPts val="3100"/>
              </a:spcBef>
              <a:spcAft>
                <a:spcPts val="0"/>
              </a:spcAft>
              <a:buSzPts val="4082"/>
              <a:buChar char="▸"/>
            </a:pPr>
            <a:r>
              <a:rPr lang="en-US" sz="3888"/>
              <a:t>Problems:</a:t>
            </a:r>
            <a:endParaRPr/>
          </a:p>
          <a:p>
            <a:pPr indent="-514350" lvl="1" marL="1028700" rtl="0" algn="l">
              <a:lnSpc>
                <a:spcPct val="100000"/>
              </a:lnSpc>
              <a:spcBef>
                <a:spcPts val="3100"/>
              </a:spcBef>
              <a:spcAft>
                <a:spcPts val="0"/>
              </a:spcAft>
              <a:buSzPts val="4082"/>
              <a:buChar char="▸"/>
            </a:pPr>
            <a:r>
              <a:rPr lang="en-US" sz="3888"/>
              <a:t>Placement of electrodes has to be precise</a:t>
            </a:r>
            <a:endParaRPr/>
          </a:p>
        </p:txBody>
      </p:sp>
      <p:pic>
        <p:nvPicPr>
          <p:cNvPr descr="peripheral nerve stim.png" id="150" name="Google Shape;150;p24"/>
          <p:cNvPicPr preferRelativeResize="0"/>
          <p:nvPr/>
        </p:nvPicPr>
        <p:blipFill rotWithShape="1">
          <a:blip r:embed="rId4">
            <a:alphaModFix/>
          </a:blip>
          <a:srcRect b="0" l="0" r="0" t="0"/>
          <a:stretch/>
        </p:blipFill>
        <p:spPr>
          <a:xfrm>
            <a:off x="13457468" y="6612147"/>
            <a:ext cx="10154290" cy="6257876"/>
          </a:xfrm>
          <a:prstGeom prst="rect">
            <a:avLst/>
          </a:prstGeom>
          <a:noFill/>
          <a:ln>
            <a:noFill/>
          </a:ln>
        </p:spPr>
      </p:pic>
      <p:sp>
        <p:nvSpPr>
          <p:cNvPr id="151" name="Google Shape;151;p24"/>
          <p:cNvSpPr/>
          <p:nvPr/>
        </p:nvSpPr>
        <p:spPr>
          <a:xfrm>
            <a:off x="13457468" y="12971622"/>
            <a:ext cx="10154290"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NMES functioning </a:t>
            </a:r>
            <a:r>
              <a:rPr b="0" i="1" lang="en-US" sz="3000" u="none" cap="none" strike="noStrike">
                <a:solidFill>
                  <a:srgbClr val="838787"/>
                </a:solidFill>
                <a:latin typeface="Avenir"/>
                <a:ea typeface="Avenir"/>
                <a:cs typeface="Avenir"/>
                <a:sym typeface="Avenir"/>
              </a:rPr>
              <a:t>embs</a:t>
            </a:r>
            <a:endParaRPr/>
          </a:p>
        </p:txBody>
      </p:sp>
      <p:pic>
        <p:nvPicPr>
          <p:cNvPr descr="nmes results.gif" id="152" name="Google Shape;152;p24"/>
          <p:cNvPicPr preferRelativeResize="0"/>
          <p:nvPr/>
        </p:nvPicPr>
        <p:blipFill rotWithShape="1">
          <a:blip r:embed="rId5">
            <a:alphaModFix/>
          </a:blip>
          <a:srcRect b="0" l="0" r="0" t="0"/>
          <a:stretch/>
        </p:blipFill>
        <p:spPr>
          <a:xfrm>
            <a:off x="12203970" y="4064000"/>
            <a:ext cx="8707728" cy="6376526"/>
          </a:xfrm>
          <a:prstGeom prst="rect">
            <a:avLst/>
          </a:prstGeom>
          <a:noFill/>
          <a:ln>
            <a:noFill/>
          </a:ln>
        </p:spPr>
      </p:pic>
      <p:sp>
        <p:nvSpPr>
          <p:cNvPr id="153" name="Google Shape;153;p24"/>
          <p:cNvSpPr/>
          <p:nvPr/>
        </p:nvSpPr>
        <p:spPr>
          <a:xfrm>
            <a:off x="12203970" y="10542125"/>
            <a:ext cx="8707728"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Change in tremor motion </a:t>
            </a:r>
            <a:r>
              <a:rPr b="0" i="1" lang="en-US" sz="3000" u="none" cap="none" strike="noStrike">
                <a:solidFill>
                  <a:srgbClr val="838787"/>
                </a:solidFill>
                <a:latin typeface="Avenir"/>
                <a:ea typeface="Avenir"/>
                <a:cs typeface="Avenir"/>
                <a:sym typeface="Avenir"/>
              </a:rPr>
              <a:t>elsevierhealth</a:t>
            </a:r>
            <a:endParaRPr/>
          </a:p>
        </p:txBody>
      </p:sp>
      <p:pic>
        <p:nvPicPr>
          <p:cNvPr descr="nmes results 2.jpeg" id="154" name="Google Shape;154;p24"/>
          <p:cNvPicPr preferRelativeResize="0"/>
          <p:nvPr/>
        </p:nvPicPr>
        <p:blipFill rotWithShape="1">
          <a:blip r:embed="rId6">
            <a:alphaModFix/>
          </a:blip>
          <a:srcRect b="0" l="0" r="0" t="0"/>
          <a:stretch/>
        </p:blipFill>
        <p:spPr>
          <a:xfrm>
            <a:off x="3220673" y="3889814"/>
            <a:ext cx="5857798" cy="8527172"/>
          </a:xfrm>
          <a:prstGeom prst="rect">
            <a:avLst/>
          </a:prstGeom>
          <a:noFill/>
          <a:ln>
            <a:noFill/>
          </a:ln>
        </p:spPr>
      </p:pic>
      <p:sp>
        <p:nvSpPr>
          <p:cNvPr id="155" name="Google Shape;155;p24"/>
          <p:cNvSpPr/>
          <p:nvPr/>
        </p:nvSpPr>
        <p:spPr>
          <a:xfrm>
            <a:off x="3220673" y="12518585"/>
            <a:ext cx="5857798" cy="11430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Change in tremor characteristics </a:t>
            </a:r>
            <a:r>
              <a:rPr b="0" i="1" lang="en-US" sz="3000" u="none" cap="none" strike="noStrike">
                <a:solidFill>
                  <a:srgbClr val="838787"/>
                </a:solidFill>
                <a:latin typeface="Avenir"/>
                <a:ea typeface="Avenir"/>
                <a:cs typeface="Avenir"/>
                <a:sym typeface="Avenir"/>
              </a:rPr>
              <a:t>frontiersin</a:t>
            </a:r>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50"/>
                                        </p:tgtEl>
                                      </p:cBhvr>
                                    </p:animEffect>
                                    <p:set>
                                      <p:cBhvr>
                                        <p:cTn dur="1" fill="hold">
                                          <p:stCondLst>
                                            <p:cond delay="1000"/>
                                          </p:stCondLst>
                                        </p:cTn>
                                        <p:tgtEl>
                                          <p:spTgt spid="15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51"/>
                                        </p:tgtEl>
                                      </p:cBhvr>
                                    </p:animEffect>
                                    <p:set>
                                      <p:cBhvr>
                                        <p:cTn dur="1" fill="hold">
                                          <p:stCondLst>
                                            <p:cond delay="1000"/>
                                          </p:stCondLst>
                                        </p:cTn>
                                        <p:tgtEl>
                                          <p:spTgt spid="151"/>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49"/>
                                        </p:tgtEl>
                                      </p:cBhvr>
                                    </p:animEffect>
                                    <p:set>
                                      <p:cBhvr>
                                        <p:cTn dur="1" fill="hold">
                                          <p:stCondLst>
                                            <p:cond delay="1000"/>
                                          </p:stCondLst>
                                        </p:cTn>
                                        <p:tgtEl>
                                          <p:spTgt spid="149"/>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61" name="Google Shape;161;p25"/>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PASSIVE SUPPRESSION ORTHOSES</a:t>
            </a:r>
            <a:endParaRPr/>
          </a:p>
        </p:txBody>
      </p:sp>
      <p:sp>
        <p:nvSpPr>
          <p:cNvPr id="162" name="Google Shape;162;p25"/>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Rely on gyroscopic stabilisation or restrictive gear to reduce tremor magnitude</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Problems:</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Bulky and cumbersome</a:t>
            </a:r>
            <a:endParaRPr/>
          </a:p>
        </p:txBody>
      </p:sp>
      <p:grpSp>
        <p:nvGrpSpPr>
          <p:cNvPr id="163" name="Google Shape;163;p25"/>
          <p:cNvGrpSpPr/>
          <p:nvPr/>
        </p:nvGrpSpPr>
        <p:grpSpPr>
          <a:xfrm>
            <a:off x="18077947" y="4970405"/>
            <a:ext cx="4881212" cy="7610591"/>
            <a:chOff x="0" y="0"/>
            <a:chExt cx="4881210" cy="7610589"/>
          </a:xfrm>
        </p:grpSpPr>
        <p:pic>
          <p:nvPicPr>
            <p:cNvPr descr="passive 2.jpeg" id="164" name="Google Shape;164;p25"/>
            <p:cNvPicPr preferRelativeResize="0"/>
            <p:nvPr/>
          </p:nvPicPr>
          <p:blipFill rotWithShape="1">
            <a:blip r:embed="rId4">
              <a:alphaModFix/>
            </a:blip>
            <a:srcRect b="0" l="0" r="0" t="0"/>
            <a:stretch/>
          </p:blipFill>
          <p:spPr>
            <a:xfrm>
              <a:off x="0" y="0"/>
              <a:ext cx="4881210" cy="6365989"/>
            </a:xfrm>
            <a:prstGeom prst="rect">
              <a:avLst/>
            </a:prstGeom>
            <a:noFill/>
            <a:ln>
              <a:noFill/>
            </a:ln>
          </p:spPr>
        </p:pic>
        <p:sp>
          <p:nvSpPr>
            <p:cNvPr id="165" name="Google Shape;165;p25"/>
            <p:cNvSpPr/>
            <p:nvPr/>
          </p:nvSpPr>
          <p:spPr>
            <a:xfrm>
              <a:off x="0" y="6467588"/>
              <a:ext cx="4881210" cy="11430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Steadi-one glove </a:t>
              </a:r>
              <a:r>
                <a:rPr b="0" i="1" lang="en-US" sz="3000" u="none" cap="none" strike="noStrike">
                  <a:solidFill>
                    <a:srgbClr val="838787"/>
                  </a:solidFill>
                  <a:latin typeface="Avenir"/>
                  <a:ea typeface="Avenir"/>
                  <a:cs typeface="Avenir"/>
                  <a:sym typeface="Avenir"/>
                </a:rPr>
                <a:t>readi-steadi</a:t>
              </a:r>
              <a:endParaRPr/>
            </a:p>
          </p:txBody>
        </p:sp>
      </p:grpSp>
      <p:grpSp>
        <p:nvGrpSpPr>
          <p:cNvPr id="166" name="Google Shape;166;p25"/>
          <p:cNvGrpSpPr/>
          <p:nvPr/>
        </p:nvGrpSpPr>
        <p:grpSpPr>
          <a:xfrm>
            <a:off x="10090346" y="5787409"/>
            <a:ext cx="7371876" cy="6249633"/>
            <a:chOff x="0" y="0"/>
            <a:chExt cx="7371874" cy="6249631"/>
          </a:xfrm>
        </p:grpSpPr>
        <p:pic>
          <p:nvPicPr>
            <p:cNvPr descr="passive.jpeg" id="167" name="Google Shape;167;p25"/>
            <p:cNvPicPr preferRelativeResize="0"/>
            <p:nvPr/>
          </p:nvPicPr>
          <p:blipFill rotWithShape="1">
            <a:blip r:embed="rId5">
              <a:alphaModFix/>
            </a:blip>
            <a:srcRect b="0" l="0" r="0" t="0"/>
            <a:stretch/>
          </p:blipFill>
          <p:spPr>
            <a:xfrm>
              <a:off x="6349" y="0"/>
              <a:ext cx="7359175" cy="5519381"/>
            </a:xfrm>
            <a:prstGeom prst="rect">
              <a:avLst/>
            </a:prstGeom>
            <a:noFill/>
            <a:ln cap="flat" cmpd="sng" w="12700">
              <a:solidFill>
                <a:srgbClr val="F3F7F5"/>
              </a:solidFill>
              <a:prstDash val="solid"/>
              <a:miter lim="4000"/>
              <a:headEnd len="sm" w="sm" type="none"/>
              <a:tailEnd len="sm" w="sm" type="none"/>
            </a:ln>
          </p:spPr>
        </p:pic>
        <p:sp>
          <p:nvSpPr>
            <p:cNvPr id="168" name="Google Shape;168;p25"/>
            <p:cNvSpPr/>
            <p:nvPr/>
          </p:nvSpPr>
          <p:spPr>
            <a:xfrm>
              <a:off x="0" y="5627330"/>
              <a:ext cx="7371874"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GyroGlove </a:t>
              </a:r>
              <a:r>
                <a:rPr b="0" i="1" lang="en-US" sz="3000" u="none" cap="none" strike="noStrike">
                  <a:solidFill>
                    <a:srgbClr val="838787"/>
                  </a:solidFill>
                  <a:latin typeface="Avenir"/>
                  <a:ea typeface="Avenir"/>
                  <a:cs typeface="Avenir"/>
                  <a:sym typeface="Avenir"/>
                </a:rPr>
                <a:t>reutersmedia</a:t>
              </a:r>
              <a:endParaRPr/>
            </a:p>
          </p:txBody>
        </p:sp>
      </p:grpSp>
    </p:spTree>
  </p:cSld>
  <p:clrMapOvr>
    <a:masterClrMapping/>
  </p:clrMapOvr>
  <mc:AlternateContent>
    <mc:Choice Requires="p14">
      <p:transition spd="slow" p14:dur="15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74" name="Google Shape;174;p26"/>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SCOPE AND GOALS</a:t>
            </a:r>
            <a:endParaRPr/>
          </a:p>
        </p:txBody>
      </p:sp>
      <p:sp>
        <p:nvSpPr>
          <p:cNvPr id="175" name="Google Shape;175;p26"/>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Suppression of resting tremor in P.D. patients</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Use sensor data to determine motion type</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Perform all computation off-line and in real-time</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User performs voluntary movement upon receiving feedback</a:t>
            </a:r>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81" name="Google Shape;181;p27"/>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SELECTED APPROACH</a:t>
            </a:r>
            <a:endParaRPr/>
          </a:p>
        </p:txBody>
      </p:sp>
      <p:sp>
        <p:nvSpPr>
          <p:cNvPr id="182" name="Google Shape;182;p27"/>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‘Brains’ of the project</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Collection and processing of data</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Classification of data to motion type</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Feedback system for user</a:t>
            </a:r>
            <a:endParaRPr/>
          </a:p>
        </p:txBody>
      </p:sp>
      <p:pic>
        <p:nvPicPr>
          <p:cNvPr descr="Screenshot 2021-12-09 at 4.24.35 AM.png" id="183" name="Google Shape;183;p27"/>
          <p:cNvPicPr preferRelativeResize="0"/>
          <p:nvPr/>
        </p:nvPicPr>
        <p:blipFill rotWithShape="1">
          <a:blip r:embed="rId3">
            <a:alphaModFix/>
          </a:blip>
          <a:srcRect b="0" l="0" r="0" t="0"/>
          <a:stretch/>
        </p:blipFill>
        <p:spPr>
          <a:xfrm>
            <a:off x="11799858" y="3929073"/>
            <a:ext cx="11690833" cy="5857853"/>
          </a:xfrm>
          <a:prstGeom prst="rect">
            <a:avLst/>
          </a:prstGeom>
          <a:noFill/>
          <a:ln>
            <a:noFill/>
          </a:ln>
        </p:spPr>
      </p:pic>
      <p:sp>
        <p:nvSpPr>
          <p:cNvPr id="184" name="Google Shape;184;p27"/>
          <p:cNvSpPr/>
          <p:nvPr/>
        </p:nvSpPr>
        <p:spPr>
          <a:xfrm>
            <a:off x="11799858" y="9888525"/>
            <a:ext cx="11690833"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High level diagram of computation</a:t>
            </a:r>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par>
                                <p:cTn fill="hold" nodeType="with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190" name="Google Shape;190;p28"/>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‘BRAINS’ OF THE PROJECT</a:t>
            </a:r>
            <a:endParaRPr/>
          </a:p>
        </p:txBody>
      </p:sp>
      <p:sp>
        <p:nvSpPr>
          <p:cNvPr id="191" name="Google Shape;191;p28"/>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Arduino Nano 33 BLE Sense</a:t>
            </a:r>
            <a:endParaRPr/>
          </a:p>
        </p:txBody>
      </p:sp>
      <p:grpSp>
        <p:nvGrpSpPr>
          <p:cNvPr id="192" name="Google Shape;192;p28"/>
          <p:cNvGrpSpPr/>
          <p:nvPr/>
        </p:nvGrpSpPr>
        <p:grpSpPr>
          <a:xfrm>
            <a:off x="1387408" y="5398510"/>
            <a:ext cx="8677935" cy="7232352"/>
            <a:chOff x="0" y="0"/>
            <a:chExt cx="8677934" cy="7232351"/>
          </a:xfrm>
        </p:grpSpPr>
        <p:pic>
          <p:nvPicPr>
            <p:cNvPr descr="arduino nano 33.jpg" id="193" name="Google Shape;193;p28"/>
            <p:cNvPicPr preferRelativeResize="0"/>
            <p:nvPr/>
          </p:nvPicPr>
          <p:blipFill rotWithShape="1">
            <a:blip r:embed="rId3">
              <a:alphaModFix/>
            </a:blip>
            <a:srcRect b="0" l="0" r="0" t="0"/>
            <a:stretch/>
          </p:blipFill>
          <p:spPr>
            <a:xfrm>
              <a:off x="0" y="0"/>
              <a:ext cx="8677934" cy="6508451"/>
            </a:xfrm>
            <a:prstGeom prst="rect">
              <a:avLst/>
            </a:prstGeom>
            <a:noFill/>
            <a:ln>
              <a:noFill/>
            </a:ln>
          </p:spPr>
        </p:pic>
        <p:sp>
          <p:nvSpPr>
            <p:cNvPr id="194" name="Google Shape;194;p28"/>
            <p:cNvSpPr/>
            <p:nvPr/>
          </p:nvSpPr>
          <p:spPr>
            <a:xfrm>
              <a:off x="0" y="6610050"/>
              <a:ext cx="8677934"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Arduino Nano 33 BLE Sense </a:t>
              </a:r>
              <a:r>
                <a:rPr b="0" i="1" lang="en-US" sz="3000" u="none" cap="none" strike="noStrike">
                  <a:solidFill>
                    <a:srgbClr val="838787"/>
                  </a:solidFill>
                  <a:latin typeface="Avenir"/>
                  <a:ea typeface="Avenir"/>
                  <a:cs typeface="Avenir"/>
                  <a:sym typeface="Avenir"/>
                </a:rPr>
                <a:t>arduino(2020)</a:t>
              </a:r>
              <a:endParaRPr/>
            </a:p>
          </p:txBody>
        </p:sp>
      </p:grpSp>
      <p:grpSp>
        <p:nvGrpSpPr>
          <p:cNvPr id="195" name="Google Shape;195;p28"/>
          <p:cNvGrpSpPr/>
          <p:nvPr/>
        </p:nvGrpSpPr>
        <p:grpSpPr>
          <a:xfrm>
            <a:off x="12144279" y="4427228"/>
            <a:ext cx="10079298" cy="8176245"/>
            <a:chOff x="0" y="0"/>
            <a:chExt cx="10079296" cy="8176244"/>
          </a:xfrm>
        </p:grpSpPr>
        <p:pic>
          <p:nvPicPr>
            <p:cNvPr descr="Screenshot 2021-12-12 at 9.43.22 PM.png" id="196" name="Google Shape;196;p28"/>
            <p:cNvPicPr preferRelativeResize="0"/>
            <p:nvPr/>
          </p:nvPicPr>
          <p:blipFill rotWithShape="1">
            <a:blip r:embed="rId4">
              <a:alphaModFix/>
            </a:blip>
            <a:srcRect b="0" l="0" r="0" t="0"/>
            <a:stretch/>
          </p:blipFill>
          <p:spPr>
            <a:xfrm>
              <a:off x="0" y="0"/>
              <a:ext cx="10079295" cy="7452344"/>
            </a:xfrm>
            <a:prstGeom prst="rect">
              <a:avLst/>
            </a:prstGeom>
            <a:noFill/>
            <a:ln>
              <a:noFill/>
            </a:ln>
          </p:spPr>
        </p:pic>
        <p:sp>
          <p:nvSpPr>
            <p:cNvPr id="197" name="Google Shape;197;p28"/>
            <p:cNvSpPr/>
            <p:nvPr/>
          </p:nvSpPr>
          <p:spPr>
            <a:xfrm>
              <a:off x="0" y="7553943"/>
              <a:ext cx="10079296"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Component placement </a:t>
              </a:r>
              <a:r>
                <a:rPr b="0" i="1" lang="en-US" sz="3000" u="none" cap="none" strike="noStrike">
                  <a:solidFill>
                    <a:srgbClr val="838787"/>
                  </a:solidFill>
                  <a:latin typeface="Avenir"/>
                  <a:ea typeface="Avenir"/>
                  <a:cs typeface="Avenir"/>
                  <a:sym typeface="Avenir"/>
                </a:rPr>
                <a:t>arduino(2020)</a:t>
              </a:r>
              <a:endParaRPr/>
            </a:p>
          </p:txBody>
        </p:sp>
      </p:grpSp>
    </p:spTree>
  </p:cSld>
  <p:clrMapOvr>
    <a:masterClrMapping/>
  </p:clrMapOvr>
  <mc:AlternateContent>
    <mc:Choice Requires="p14">
      <p:transition spd="slow" p14:dur="15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203" name="Google Shape;203;p29"/>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PROCESSING OF DATA</a:t>
            </a:r>
            <a:endParaRPr/>
          </a:p>
        </p:txBody>
      </p:sp>
      <p:sp>
        <p:nvSpPr>
          <p:cNvPr id="204" name="Google Shape;204;p29"/>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 Splitting data into fixed windows</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6th order Butterworth filter</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Fourier Transform</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Frequency domain and spectral power features extracted</a:t>
            </a:r>
            <a:endParaRPr/>
          </a:p>
        </p:txBody>
      </p:sp>
      <p:pic>
        <p:nvPicPr>
          <p:cNvPr descr="butterworth filter.png" id="205" name="Google Shape;205;p29"/>
          <p:cNvPicPr preferRelativeResize="0"/>
          <p:nvPr/>
        </p:nvPicPr>
        <p:blipFill rotWithShape="1">
          <a:blip r:embed="rId3">
            <a:alphaModFix/>
          </a:blip>
          <a:srcRect b="0" l="0" r="0" t="0"/>
          <a:stretch/>
        </p:blipFill>
        <p:spPr>
          <a:xfrm>
            <a:off x="15117469" y="2159000"/>
            <a:ext cx="6616701" cy="6197600"/>
          </a:xfrm>
          <a:prstGeom prst="rect">
            <a:avLst/>
          </a:prstGeom>
          <a:noFill/>
          <a:ln>
            <a:noFill/>
          </a:ln>
        </p:spPr>
      </p:pic>
      <p:sp>
        <p:nvSpPr>
          <p:cNvPr id="206" name="Google Shape;206;p29"/>
          <p:cNvSpPr/>
          <p:nvPr/>
        </p:nvSpPr>
        <p:spPr>
          <a:xfrm>
            <a:off x="15117469" y="8458200"/>
            <a:ext cx="6616701"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Butterworth filter </a:t>
            </a:r>
            <a:r>
              <a:rPr b="0" i="1" lang="en-US" sz="3000" u="none" cap="none" strike="noStrike">
                <a:solidFill>
                  <a:srgbClr val="838787"/>
                </a:solidFill>
                <a:latin typeface="Avenir"/>
                <a:ea typeface="Avenir"/>
                <a:cs typeface="Avenir"/>
                <a:sym typeface="Avenir"/>
              </a:rPr>
              <a:t>imgur</a:t>
            </a:r>
            <a:endParaRPr/>
          </a:p>
        </p:txBody>
      </p:sp>
      <p:pic>
        <p:nvPicPr>
          <p:cNvPr descr="fourier transform.png" id="207" name="Google Shape;207;p29"/>
          <p:cNvPicPr preferRelativeResize="0"/>
          <p:nvPr/>
        </p:nvPicPr>
        <p:blipFill rotWithShape="1">
          <a:blip r:embed="rId4">
            <a:alphaModFix/>
          </a:blip>
          <a:srcRect b="0" l="0" r="0" t="0"/>
          <a:stretch/>
        </p:blipFill>
        <p:spPr>
          <a:xfrm>
            <a:off x="14996819" y="2159000"/>
            <a:ext cx="6858001" cy="4800600"/>
          </a:xfrm>
          <a:prstGeom prst="rect">
            <a:avLst/>
          </a:prstGeom>
          <a:noFill/>
          <a:ln>
            <a:noFill/>
          </a:ln>
        </p:spPr>
      </p:pic>
      <p:sp>
        <p:nvSpPr>
          <p:cNvPr id="208" name="Google Shape;208;p29"/>
          <p:cNvSpPr/>
          <p:nvPr/>
        </p:nvSpPr>
        <p:spPr>
          <a:xfrm>
            <a:off x="14996819" y="7061200"/>
            <a:ext cx="6858001"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Fourier transform </a:t>
            </a:r>
            <a:r>
              <a:rPr b="0" i="1" lang="en-US" sz="3000" u="none" cap="none" strike="noStrike">
                <a:solidFill>
                  <a:srgbClr val="838787"/>
                </a:solidFill>
                <a:latin typeface="Avenir"/>
                <a:ea typeface="Avenir"/>
                <a:cs typeface="Avenir"/>
                <a:sym typeface="Avenir"/>
              </a:rPr>
              <a:t>nti-audio</a:t>
            </a:r>
            <a:endParaRPr/>
          </a:p>
        </p:txBody>
      </p:sp>
      <p:pic>
        <p:nvPicPr>
          <p:cNvPr descr="low pass filter.png" id="209" name="Google Shape;209;p29"/>
          <p:cNvPicPr preferRelativeResize="0"/>
          <p:nvPr/>
        </p:nvPicPr>
        <p:blipFill rotWithShape="1">
          <a:blip r:embed="rId5">
            <a:alphaModFix/>
          </a:blip>
          <a:srcRect b="0" l="0" r="0" t="0"/>
          <a:stretch/>
        </p:blipFill>
        <p:spPr>
          <a:xfrm>
            <a:off x="13575917" y="2613858"/>
            <a:ext cx="9699806" cy="3890884"/>
          </a:xfrm>
          <a:prstGeom prst="rect">
            <a:avLst/>
          </a:prstGeom>
          <a:noFill/>
          <a:ln>
            <a:noFill/>
          </a:ln>
        </p:spPr>
      </p:pic>
      <p:sp>
        <p:nvSpPr>
          <p:cNvPr id="210" name="Google Shape;210;p29"/>
          <p:cNvSpPr/>
          <p:nvPr/>
        </p:nvSpPr>
        <p:spPr>
          <a:xfrm>
            <a:off x="13575916" y="6606341"/>
            <a:ext cx="9699807"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Low-pass filter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0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09"/>
                                        </p:tgtEl>
                                      </p:cBhvr>
                                    </p:animEffect>
                                    <p:set>
                                      <p:cBhvr>
                                        <p:cTn dur="1" fill="hold">
                                          <p:stCondLst>
                                            <p:cond delay="1000"/>
                                          </p:stCondLst>
                                        </p:cTn>
                                        <p:tgtEl>
                                          <p:spTgt spid="20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10"/>
                                        </p:tgtEl>
                                      </p:cBhvr>
                                    </p:animEffect>
                                    <p:set>
                                      <p:cBhvr>
                                        <p:cTn dur="1" fill="hold">
                                          <p:stCondLst>
                                            <p:cond delay="1000"/>
                                          </p:stCondLst>
                                        </p:cTn>
                                        <p:tgtEl>
                                          <p:spTgt spid="210"/>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05"/>
                                        </p:tgtEl>
                                      </p:cBhvr>
                                    </p:animEffect>
                                    <p:set>
                                      <p:cBhvr>
                                        <p:cTn dur="1" fill="hold">
                                          <p:stCondLst>
                                            <p:cond delay="1000"/>
                                          </p:stCondLst>
                                        </p:cTn>
                                        <p:tgtEl>
                                          <p:spTgt spid="20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06"/>
                                        </p:tgtEl>
                                      </p:cBhvr>
                                    </p:animEffect>
                                    <p:set>
                                      <p:cBhvr>
                                        <p:cTn dur="1" fill="hold">
                                          <p:stCondLst>
                                            <p:cond delay="1000"/>
                                          </p:stCondLst>
                                        </p:cTn>
                                        <p:tgtEl>
                                          <p:spTgt spid="206"/>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216" name="Google Shape;216;p30"/>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CLASSIFICATION OF DATA TO MOTION TYPE</a:t>
            </a:r>
            <a:endParaRPr/>
          </a:p>
        </p:txBody>
      </p:sp>
      <p:sp>
        <p:nvSpPr>
          <p:cNvPr id="217" name="Google Shape;217;p30"/>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What are machine learning, and neural networks?</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Neural Network Classifier built around the </a:t>
            </a:r>
            <a:r>
              <a:rPr b="1" lang="en-US"/>
              <a:t>Keras</a:t>
            </a:r>
            <a:r>
              <a:rPr b="0" i="0" lang="en-US" sz="4800" u="none" cap="none" strike="noStrike">
                <a:solidFill>
                  <a:srgbClr val="838787"/>
                </a:solidFill>
                <a:latin typeface="Times New Roman"/>
                <a:ea typeface="Times New Roman"/>
                <a:cs typeface="Times New Roman"/>
                <a:sym typeface="Times New Roman"/>
              </a:rPr>
              <a:t> library</a:t>
            </a:r>
            <a:endParaRPr/>
          </a:p>
          <a:p>
            <a:pPr indent="-635000" lvl="3" marL="254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Enables fast experimentation with deep neural networks</a:t>
            </a:r>
            <a:endParaRPr/>
          </a:p>
        </p:txBody>
      </p:sp>
      <p:pic>
        <p:nvPicPr>
          <p:cNvPr descr="keras-deep-learning.png" id="218" name="Google Shape;218;p30"/>
          <p:cNvPicPr preferRelativeResize="0"/>
          <p:nvPr/>
        </p:nvPicPr>
        <p:blipFill rotWithShape="1">
          <a:blip r:embed="rId3">
            <a:alphaModFix/>
          </a:blip>
          <a:srcRect b="0" l="0" r="0" t="0"/>
          <a:stretch/>
        </p:blipFill>
        <p:spPr>
          <a:xfrm>
            <a:off x="5570952" y="5068692"/>
            <a:ext cx="11058163" cy="6220216"/>
          </a:xfrm>
          <a:prstGeom prst="rect">
            <a:avLst/>
          </a:prstGeom>
          <a:noFill/>
          <a:ln>
            <a:noFill/>
          </a:ln>
        </p:spPr>
      </p:pic>
      <p:sp>
        <p:nvSpPr>
          <p:cNvPr id="219" name="Google Shape;219;p30"/>
          <p:cNvSpPr/>
          <p:nvPr/>
        </p:nvSpPr>
        <p:spPr>
          <a:xfrm>
            <a:off x="5570953" y="11390507"/>
            <a:ext cx="11058162"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Basic working of Neural Networks </a:t>
            </a:r>
            <a:r>
              <a:rPr b="0" i="1" lang="en-US" sz="3000" u="none" cap="none" strike="noStrike">
                <a:solidFill>
                  <a:srgbClr val="838787"/>
                </a:solidFill>
                <a:latin typeface="Avenir"/>
                <a:ea typeface="Avenir"/>
                <a:cs typeface="Avenir"/>
                <a:sym typeface="Avenir"/>
              </a:rPr>
              <a:t>pluralsight</a:t>
            </a:r>
            <a:endParaRPr/>
          </a:p>
        </p:txBody>
      </p:sp>
      <p:pic>
        <p:nvPicPr>
          <p:cNvPr descr="keras2.png" id="220" name="Google Shape;220;p30"/>
          <p:cNvPicPr preferRelativeResize="0"/>
          <p:nvPr/>
        </p:nvPicPr>
        <p:blipFill rotWithShape="1">
          <a:blip r:embed="rId4">
            <a:alphaModFix/>
          </a:blip>
          <a:srcRect b="0" l="0" r="0" t="0"/>
          <a:stretch/>
        </p:blipFill>
        <p:spPr>
          <a:xfrm>
            <a:off x="17115707" y="4554323"/>
            <a:ext cx="5295901" cy="1536701"/>
          </a:xfrm>
          <a:prstGeom prst="rect">
            <a:avLst/>
          </a:prstGeom>
          <a:noFill/>
          <a:ln>
            <a:noFill/>
          </a:ln>
        </p:spPr>
      </p:pic>
      <p:pic>
        <p:nvPicPr>
          <p:cNvPr descr="types of ml.png" id="221" name="Google Shape;221;p30"/>
          <p:cNvPicPr preferRelativeResize="0"/>
          <p:nvPr/>
        </p:nvPicPr>
        <p:blipFill rotWithShape="1">
          <a:blip r:embed="rId5">
            <a:alphaModFix/>
          </a:blip>
          <a:srcRect b="0" l="0" r="0" t="0"/>
          <a:stretch/>
        </p:blipFill>
        <p:spPr>
          <a:xfrm>
            <a:off x="6072082" y="3708983"/>
            <a:ext cx="10334836" cy="8939634"/>
          </a:xfrm>
          <a:prstGeom prst="rect">
            <a:avLst/>
          </a:prstGeom>
          <a:noFill/>
          <a:ln>
            <a:noFill/>
          </a:ln>
        </p:spPr>
      </p:pic>
      <p:sp>
        <p:nvSpPr>
          <p:cNvPr id="222" name="Google Shape;222;p30"/>
          <p:cNvSpPr/>
          <p:nvPr/>
        </p:nvSpPr>
        <p:spPr>
          <a:xfrm>
            <a:off x="6072082" y="12750216"/>
            <a:ext cx="10334836"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1" lang="en-US" sz="3000" u="none" cap="none" strike="noStrike">
                <a:solidFill>
                  <a:srgbClr val="838787"/>
                </a:solidFill>
                <a:latin typeface="Avenir"/>
                <a:ea typeface="Avenir"/>
                <a:cs typeface="Avenir"/>
                <a:sym typeface="Avenir"/>
              </a:rPr>
              <a:t>amazonaws</a:t>
            </a:r>
            <a:endParaRPr/>
          </a:p>
        </p:txBody>
      </p:sp>
      <p:pic>
        <p:nvPicPr>
          <p:cNvPr descr="what-is-machine-learning-7-steps-of-machine-learning.jpeg" id="223" name="Google Shape;223;p30"/>
          <p:cNvPicPr preferRelativeResize="0"/>
          <p:nvPr/>
        </p:nvPicPr>
        <p:blipFill rotWithShape="1">
          <a:blip r:embed="rId6">
            <a:alphaModFix/>
          </a:blip>
          <a:srcRect b="0" l="0" r="0" t="0"/>
          <a:stretch/>
        </p:blipFill>
        <p:spPr>
          <a:xfrm>
            <a:off x="5217654" y="4138836"/>
            <a:ext cx="12043692" cy="8029128"/>
          </a:xfrm>
          <a:prstGeom prst="rect">
            <a:avLst/>
          </a:prstGeom>
          <a:noFill/>
          <a:ln>
            <a:noFill/>
          </a:ln>
        </p:spPr>
      </p:pic>
      <p:sp>
        <p:nvSpPr>
          <p:cNvPr id="224" name="Google Shape;224;p30"/>
          <p:cNvSpPr/>
          <p:nvPr/>
        </p:nvSpPr>
        <p:spPr>
          <a:xfrm>
            <a:off x="5217654" y="12269563"/>
            <a:ext cx="12043692"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1" lang="en-US" sz="3000" u="none" cap="none" strike="noStrike">
                <a:solidFill>
                  <a:srgbClr val="838787"/>
                </a:solidFill>
                <a:latin typeface="Avenir"/>
                <a:ea typeface="Avenir"/>
                <a:cs typeface="Avenir"/>
                <a:sym typeface="Avenir"/>
              </a:rPr>
              <a:t>cloudfront</a:t>
            </a:r>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17"/>
                                        </p:tgtEl>
                                      </p:cBhvr>
                                    </p:animEffect>
                                    <p:set>
                                      <p:cBhvr>
                                        <p:cTn dur="1" fill="hold">
                                          <p:stCondLst>
                                            <p:cond delay="1000"/>
                                          </p:stCondLst>
                                        </p:cTn>
                                        <p:tgtEl>
                                          <p:spTgt spid="217"/>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220"/>
                                        </p:tgtEl>
                                      </p:cBhvr>
                                    </p:animEffect>
                                    <p:set>
                                      <p:cBhvr>
                                        <p:cTn dur="1" fill="hold">
                                          <p:stCondLst>
                                            <p:cond delay="1000"/>
                                          </p:stCondLst>
                                        </p:cTn>
                                        <p:tgtEl>
                                          <p:spTgt spid="220"/>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23"/>
                                        </p:tgtEl>
                                      </p:cBhvr>
                                    </p:animEffect>
                                    <p:set>
                                      <p:cBhvr>
                                        <p:cTn dur="1" fill="hold">
                                          <p:stCondLst>
                                            <p:cond delay="1000"/>
                                          </p:stCondLst>
                                        </p:cTn>
                                        <p:tgtEl>
                                          <p:spTgt spid="22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24"/>
                                        </p:tgtEl>
                                      </p:cBhvr>
                                    </p:animEffect>
                                    <p:set>
                                      <p:cBhvr>
                                        <p:cTn dur="1" fill="hold">
                                          <p:stCondLst>
                                            <p:cond delay="1000"/>
                                          </p:stCondLst>
                                        </p:cTn>
                                        <p:tgtEl>
                                          <p:spTgt spid="224"/>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21"/>
                                        </p:tgtEl>
                                      </p:cBhvr>
                                    </p:animEffect>
                                    <p:set>
                                      <p:cBhvr>
                                        <p:cTn dur="1" fill="hold">
                                          <p:stCondLst>
                                            <p:cond delay="1000"/>
                                          </p:stCondLst>
                                        </p:cTn>
                                        <p:tgtEl>
                                          <p:spTgt spid="22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22"/>
                                        </p:tgtEl>
                                      </p:cBhvr>
                                    </p:animEffect>
                                    <p:set>
                                      <p:cBhvr>
                                        <p:cTn dur="1" fill="hold">
                                          <p:stCondLst>
                                            <p:cond delay="1000"/>
                                          </p:stCondLst>
                                        </p:cTn>
                                        <p:tgtEl>
                                          <p:spTgt spid="222"/>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18"/>
                                        </p:tgtEl>
                                      </p:cBhvr>
                                    </p:animEffect>
                                    <p:set>
                                      <p:cBhvr>
                                        <p:cTn dur="1" fill="hold">
                                          <p:stCondLst>
                                            <p:cond delay="1000"/>
                                          </p:stCondLst>
                                        </p:cTn>
                                        <p:tgtEl>
                                          <p:spTgt spid="21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19"/>
                                        </p:tgtEl>
                                      </p:cBhvr>
                                    </p:animEffect>
                                    <p:set>
                                      <p:cBhvr>
                                        <p:cTn dur="1" fill="hold">
                                          <p:stCondLst>
                                            <p:cond delay="1000"/>
                                          </p:stCondLst>
                                        </p:cTn>
                                        <p:tgtEl>
                                          <p:spTgt spid="219"/>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230" name="Google Shape;230;p31"/>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CHOOSING THE BEST STRUCTURE FOR THE NEURAL NETWORK</a:t>
            </a:r>
            <a:endParaRPr/>
          </a:p>
        </p:txBody>
      </p:sp>
      <p:sp>
        <p:nvSpPr>
          <p:cNvPr id="231" name="Google Shape;231;p31"/>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Types of neural network layers</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How to choose the number of layers?</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How to choose the number of neurons in each layer?</a:t>
            </a:r>
            <a:endParaRPr/>
          </a:p>
        </p:txBody>
      </p:sp>
      <p:pic>
        <p:nvPicPr>
          <p:cNvPr descr="Screenshot 2021-12-10 at 8.01.01 AM.png" id="232" name="Google Shape;232;p31"/>
          <p:cNvPicPr preferRelativeResize="0"/>
          <p:nvPr/>
        </p:nvPicPr>
        <p:blipFill rotWithShape="1">
          <a:blip r:embed="rId3">
            <a:alphaModFix/>
          </a:blip>
          <a:srcRect b="0" l="0" r="0" t="0"/>
          <a:stretch/>
        </p:blipFill>
        <p:spPr>
          <a:xfrm>
            <a:off x="7410233" y="4297465"/>
            <a:ext cx="9563534" cy="7711870"/>
          </a:xfrm>
          <a:prstGeom prst="rect">
            <a:avLst/>
          </a:prstGeom>
          <a:noFill/>
          <a:ln cap="flat" cmpd="sng" w="12700">
            <a:solidFill>
              <a:srgbClr val="F3F7F5"/>
            </a:solidFill>
            <a:prstDash val="solid"/>
            <a:miter lim="4000"/>
            <a:headEnd len="sm" w="sm" type="none"/>
            <a:tailEnd len="sm" w="sm" type="none"/>
          </a:ln>
        </p:spPr>
      </p:pic>
      <p:sp>
        <p:nvSpPr>
          <p:cNvPr id="233" name="Google Shape;233;p31"/>
          <p:cNvSpPr/>
          <p:nvPr/>
        </p:nvSpPr>
        <p:spPr>
          <a:xfrm>
            <a:off x="7403883" y="12117284"/>
            <a:ext cx="9576234"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Chosen NN architecture</a:t>
            </a:r>
            <a:endParaRPr/>
          </a:p>
        </p:txBody>
      </p:sp>
      <p:pic>
        <p:nvPicPr>
          <p:cNvPr descr="deep learning nn layers example.png" id="234" name="Google Shape;234;p31"/>
          <p:cNvPicPr preferRelativeResize="0"/>
          <p:nvPr/>
        </p:nvPicPr>
        <p:blipFill rotWithShape="1">
          <a:blip r:embed="rId4">
            <a:alphaModFix/>
          </a:blip>
          <a:srcRect b="0" l="0" r="0" t="0"/>
          <a:stretch/>
        </p:blipFill>
        <p:spPr>
          <a:xfrm>
            <a:off x="7626942" y="4484287"/>
            <a:ext cx="9130117" cy="7338226"/>
          </a:xfrm>
          <a:prstGeom prst="rect">
            <a:avLst/>
          </a:prstGeom>
          <a:noFill/>
          <a:ln>
            <a:noFill/>
          </a:ln>
        </p:spPr>
      </p:pic>
      <p:sp>
        <p:nvSpPr>
          <p:cNvPr id="235" name="Google Shape;235;p31"/>
          <p:cNvSpPr/>
          <p:nvPr/>
        </p:nvSpPr>
        <p:spPr>
          <a:xfrm>
            <a:off x="7626942" y="11924112"/>
            <a:ext cx="9130117"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Required number of layers </a:t>
            </a:r>
            <a:r>
              <a:rPr b="0" i="1" lang="en-US" sz="3000" u="none" cap="none" strike="noStrike">
                <a:solidFill>
                  <a:srgbClr val="838787"/>
                </a:solidFill>
                <a:latin typeface="Avenir"/>
                <a:ea typeface="Avenir"/>
                <a:cs typeface="Avenir"/>
                <a:sym typeface="Avenir"/>
              </a:rPr>
              <a:t>opengenus</a:t>
            </a:r>
            <a:endParaRPr/>
          </a:p>
        </p:txBody>
      </p:sp>
      <p:pic>
        <p:nvPicPr>
          <p:cNvPr descr="Evaluation-of-the-number-of-neurons-in-the-first-hidden-layer-with-neural-network.png" id="236" name="Google Shape;236;p31"/>
          <p:cNvPicPr preferRelativeResize="0"/>
          <p:nvPr/>
        </p:nvPicPr>
        <p:blipFill rotWithShape="1">
          <a:blip r:embed="rId5">
            <a:alphaModFix/>
          </a:blip>
          <a:srcRect b="0" l="0" r="0" t="0"/>
          <a:stretch/>
        </p:blipFill>
        <p:spPr>
          <a:xfrm>
            <a:off x="5257668" y="4126544"/>
            <a:ext cx="13868664" cy="8053712"/>
          </a:xfrm>
          <a:prstGeom prst="rect">
            <a:avLst/>
          </a:prstGeom>
          <a:noFill/>
          <a:ln>
            <a:noFill/>
          </a:ln>
        </p:spPr>
      </p:pic>
      <p:sp>
        <p:nvSpPr>
          <p:cNvPr id="237" name="Google Shape;237;p31"/>
          <p:cNvSpPr/>
          <p:nvPr/>
        </p:nvSpPr>
        <p:spPr>
          <a:xfrm>
            <a:off x="5257667" y="12281855"/>
            <a:ext cx="13868666"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Mean Squared Error vs number of neurons in a layer </a:t>
            </a:r>
            <a:r>
              <a:rPr b="0" i="1" lang="en-US" sz="3000" u="none" cap="none" strike="noStrike">
                <a:solidFill>
                  <a:srgbClr val="838787"/>
                </a:solidFill>
                <a:latin typeface="Avenir"/>
                <a:ea typeface="Avenir"/>
                <a:cs typeface="Avenir"/>
                <a:sym typeface="Avenir"/>
              </a:rPr>
              <a:t>abbod maysam f.(2010)</a:t>
            </a:r>
            <a:endParaRPr/>
          </a:p>
        </p:txBody>
      </p:sp>
      <p:pic>
        <p:nvPicPr>
          <p:cNvPr descr="types of nn.jpeg" id="238" name="Google Shape;238;p31"/>
          <p:cNvPicPr preferRelativeResize="0"/>
          <p:nvPr/>
        </p:nvPicPr>
        <p:blipFill rotWithShape="1">
          <a:blip r:embed="rId6">
            <a:alphaModFix/>
          </a:blip>
          <a:srcRect b="0" l="0" r="0" t="0"/>
          <a:stretch/>
        </p:blipFill>
        <p:spPr>
          <a:xfrm>
            <a:off x="7403883" y="3365283"/>
            <a:ext cx="9576234" cy="9576234"/>
          </a:xfrm>
          <a:prstGeom prst="rect">
            <a:avLst/>
          </a:prstGeom>
          <a:noFill/>
          <a:ln>
            <a:noFill/>
          </a:ln>
        </p:spPr>
      </p:pic>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31"/>
                                        </p:tgtEl>
                                      </p:cBhvr>
                                    </p:animEffect>
                                    <p:set>
                                      <p:cBhvr>
                                        <p:cTn dur="1" fill="hold">
                                          <p:stCondLst>
                                            <p:cond delay="1000"/>
                                          </p:stCondLst>
                                        </p:cTn>
                                        <p:tgtEl>
                                          <p:spTgt spid="231"/>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38"/>
                                        </p:tgtEl>
                                      </p:cBhvr>
                                    </p:animEffect>
                                    <p:set>
                                      <p:cBhvr>
                                        <p:cTn dur="1" fill="hold">
                                          <p:stCondLst>
                                            <p:cond delay="1000"/>
                                          </p:stCondLst>
                                        </p:cTn>
                                        <p:tgtEl>
                                          <p:spTgt spid="238"/>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34"/>
                                        </p:tgtEl>
                                      </p:cBhvr>
                                    </p:animEffect>
                                    <p:set>
                                      <p:cBhvr>
                                        <p:cTn dur="1" fill="hold">
                                          <p:stCondLst>
                                            <p:cond delay="1000"/>
                                          </p:stCondLst>
                                        </p:cTn>
                                        <p:tgtEl>
                                          <p:spTgt spid="23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35"/>
                                        </p:tgtEl>
                                      </p:cBhvr>
                                    </p:animEffect>
                                    <p:set>
                                      <p:cBhvr>
                                        <p:cTn dur="1" fill="hold">
                                          <p:stCondLst>
                                            <p:cond delay="1000"/>
                                          </p:stCondLst>
                                        </p:cTn>
                                        <p:tgtEl>
                                          <p:spTgt spid="235"/>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par>
                                <p:cTn fill="hold" nodeType="with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36"/>
                                        </p:tgtEl>
                                      </p:cBhvr>
                                    </p:animEffect>
                                    <p:set>
                                      <p:cBhvr>
                                        <p:cTn dur="1" fill="hold">
                                          <p:stCondLst>
                                            <p:cond delay="1000"/>
                                          </p:stCondLst>
                                        </p:cTn>
                                        <p:tgtEl>
                                          <p:spTgt spid="2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37"/>
                                        </p:tgtEl>
                                      </p:cBhvr>
                                    </p:animEffect>
                                    <p:set>
                                      <p:cBhvr>
                                        <p:cTn dur="1" fill="hold">
                                          <p:stCondLst>
                                            <p:cond delay="1000"/>
                                          </p:stCondLst>
                                        </p:cTn>
                                        <p:tgtEl>
                                          <p:spTgt spid="237"/>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244" name="Google Shape;244;p32"/>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TRAINING OF THE NEURAL NETWORK</a:t>
            </a:r>
            <a:endParaRPr/>
          </a:p>
        </p:txBody>
      </p:sp>
      <p:sp>
        <p:nvSpPr>
          <p:cNvPr id="245" name="Google Shape;245;p32"/>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How is a neural network trained?</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Number of training epochs?</a:t>
            </a:r>
            <a:endParaRPr/>
          </a:p>
        </p:txBody>
      </p:sp>
      <p:pic>
        <p:nvPicPr>
          <p:cNvPr descr="one epoch.png" id="246" name="Google Shape;246;p32"/>
          <p:cNvPicPr preferRelativeResize="0"/>
          <p:nvPr/>
        </p:nvPicPr>
        <p:blipFill rotWithShape="1">
          <a:blip r:embed="rId3">
            <a:alphaModFix/>
          </a:blip>
          <a:srcRect b="0" l="0" r="0" t="0"/>
          <a:stretch/>
        </p:blipFill>
        <p:spPr>
          <a:xfrm>
            <a:off x="11882738" y="4064000"/>
            <a:ext cx="10554987" cy="6118315"/>
          </a:xfrm>
          <a:prstGeom prst="rect">
            <a:avLst/>
          </a:prstGeom>
          <a:noFill/>
          <a:ln>
            <a:noFill/>
          </a:ln>
        </p:spPr>
      </p:pic>
      <p:sp>
        <p:nvSpPr>
          <p:cNvPr id="247" name="Google Shape;247;p32"/>
          <p:cNvSpPr/>
          <p:nvPr/>
        </p:nvSpPr>
        <p:spPr>
          <a:xfrm>
            <a:off x="11882738" y="10283914"/>
            <a:ext cx="10554988"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Single training epoch</a:t>
            </a:r>
            <a:endParaRPr/>
          </a:p>
        </p:txBody>
      </p:sp>
      <p:pic>
        <p:nvPicPr>
          <p:cNvPr descr="training epoch.png" id="248" name="Google Shape;248;p32"/>
          <p:cNvPicPr preferRelativeResize="0"/>
          <p:nvPr/>
        </p:nvPicPr>
        <p:blipFill rotWithShape="1">
          <a:blip r:embed="rId4">
            <a:alphaModFix/>
          </a:blip>
          <a:srcRect b="0" l="0" r="0" t="0"/>
          <a:stretch/>
        </p:blipFill>
        <p:spPr>
          <a:xfrm>
            <a:off x="380603" y="6710468"/>
            <a:ext cx="11189485" cy="4616866"/>
          </a:xfrm>
          <a:prstGeom prst="rect">
            <a:avLst/>
          </a:prstGeom>
          <a:noFill/>
          <a:ln>
            <a:noFill/>
          </a:ln>
        </p:spPr>
      </p:pic>
      <p:sp>
        <p:nvSpPr>
          <p:cNvPr id="249" name="Google Shape;249;p32"/>
          <p:cNvSpPr/>
          <p:nvPr/>
        </p:nvSpPr>
        <p:spPr>
          <a:xfrm>
            <a:off x="380603" y="11428933"/>
            <a:ext cx="11189485"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Number of training epochs vs. error%</a:t>
            </a:r>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par>
                                <p:cTn fill="hold" nodeType="with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255" name="Google Shape;255;p33"/>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RESULTS</a:t>
            </a:r>
            <a:endParaRPr/>
          </a:p>
        </p:txBody>
      </p:sp>
      <p:sp>
        <p:nvSpPr>
          <p:cNvPr id="256" name="Google Shape;256;p33"/>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Accuracy: </a:t>
            </a:r>
            <a:r>
              <a:rPr b="1" lang="en-US"/>
              <a:t>90%</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Loss: </a:t>
            </a:r>
            <a:r>
              <a:rPr b="1" lang="en-US"/>
              <a:t>0.650</a:t>
            </a:r>
            <a:endParaRPr/>
          </a:p>
        </p:txBody>
      </p:sp>
      <p:pic>
        <p:nvPicPr>
          <p:cNvPr descr="Screenshot 2021-12-12 at 6.34.05 PM.png" id="257" name="Google Shape;257;p33"/>
          <p:cNvPicPr preferRelativeResize="0"/>
          <p:nvPr/>
        </p:nvPicPr>
        <p:blipFill rotWithShape="1">
          <a:blip r:embed="rId3">
            <a:alphaModFix/>
          </a:blip>
          <a:srcRect b="0" l="0" r="0" t="0"/>
          <a:stretch/>
        </p:blipFill>
        <p:spPr>
          <a:xfrm>
            <a:off x="290544" y="6780517"/>
            <a:ext cx="11841706" cy="2796566"/>
          </a:xfrm>
          <a:prstGeom prst="rect">
            <a:avLst/>
          </a:prstGeom>
          <a:noFill/>
          <a:ln>
            <a:noFill/>
          </a:ln>
        </p:spPr>
      </p:pic>
      <p:pic>
        <p:nvPicPr>
          <p:cNvPr descr="Screenshot 2021-12-12 at 9.21.47 PM.png" id="258" name="Google Shape;258;p33"/>
          <p:cNvPicPr preferRelativeResize="0"/>
          <p:nvPr/>
        </p:nvPicPr>
        <p:blipFill rotWithShape="1">
          <a:blip r:embed="rId4">
            <a:alphaModFix/>
          </a:blip>
          <a:srcRect b="0" l="0" r="0" t="0"/>
          <a:stretch/>
        </p:blipFill>
        <p:spPr>
          <a:xfrm>
            <a:off x="12419796" y="3498148"/>
            <a:ext cx="11327388" cy="9310504"/>
          </a:xfrm>
          <a:prstGeom prst="rect">
            <a:avLst/>
          </a:prstGeom>
          <a:noFill/>
          <a:ln>
            <a:noFill/>
          </a:ln>
        </p:spPr>
      </p:pic>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264" name="Google Shape;264;p34"/>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FEEDBACK MECHANISM</a:t>
            </a:r>
            <a:endParaRPr/>
          </a:p>
        </p:txBody>
      </p:sp>
      <p:sp>
        <p:nvSpPr>
          <p:cNvPr id="265" name="Google Shape;265;p34"/>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Haptic feedback using DRV2605L and ERM motor</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Waveform generation for the motor</a:t>
            </a:r>
            <a:endParaRPr/>
          </a:p>
        </p:txBody>
      </p:sp>
      <p:grpSp>
        <p:nvGrpSpPr>
          <p:cNvPr id="266" name="Google Shape;266;p34"/>
          <p:cNvGrpSpPr/>
          <p:nvPr/>
        </p:nvGrpSpPr>
        <p:grpSpPr>
          <a:xfrm>
            <a:off x="13304688" y="5353511"/>
            <a:ext cx="9060736" cy="8205166"/>
            <a:chOff x="0" y="0"/>
            <a:chExt cx="9060734" cy="8205165"/>
          </a:xfrm>
        </p:grpSpPr>
        <p:pic>
          <p:nvPicPr>
            <p:cNvPr descr="erm motor.png" id="267" name="Google Shape;267;p34"/>
            <p:cNvPicPr preferRelativeResize="0"/>
            <p:nvPr/>
          </p:nvPicPr>
          <p:blipFill rotWithShape="1">
            <a:blip r:embed="rId3">
              <a:alphaModFix/>
            </a:blip>
            <a:srcRect b="0" l="0" r="0" t="0"/>
            <a:stretch/>
          </p:blipFill>
          <p:spPr>
            <a:xfrm>
              <a:off x="0" y="0"/>
              <a:ext cx="9060734" cy="6960565"/>
            </a:xfrm>
            <a:prstGeom prst="rect">
              <a:avLst/>
            </a:prstGeom>
            <a:noFill/>
            <a:ln>
              <a:noFill/>
            </a:ln>
          </p:spPr>
        </p:pic>
        <p:sp>
          <p:nvSpPr>
            <p:cNvPr id="268" name="Google Shape;268;p34"/>
            <p:cNvSpPr/>
            <p:nvPr/>
          </p:nvSpPr>
          <p:spPr>
            <a:xfrm>
              <a:off x="0" y="7062164"/>
              <a:ext cx="9060734" cy="11430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Eccentric Rotating Mass Motor Construction </a:t>
              </a:r>
              <a:r>
                <a:rPr b="0" i="1" lang="en-US" sz="3000" u="none" cap="none" strike="noStrike">
                  <a:solidFill>
                    <a:srgbClr val="838787"/>
                  </a:solidFill>
                  <a:latin typeface="Avenir"/>
                  <a:ea typeface="Avenir"/>
                  <a:cs typeface="Avenir"/>
                  <a:sym typeface="Avenir"/>
                </a:rPr>
                <a:t>sparkfun</a:t>
              </a:r>
              <a:endParaRPr/>
            </a:p>
          </p:txBody>
        </p:sp>
      </p:grpSp>
      <p:grpSp>
        <p:nvGrpSpPr>
          <p:cNvPr id="269" name="Google Shape;269;p34"/>
          <p:cNvGrpSpPr/>
          <p:nvPr/>
        </p:nvGrpSpPr>
        <p:grpSpPr>
          <a:xfrm>
            <a:off x="5012694" y="7500442"/>
            <a:ext cx="6421751" cy="6051552"/>
            <a:chOff x="0" y="0"/>
            <a:chExt cx="6421749" cy="6051550"/>
          </a:xfrm>
        </p:grpSpPr>
        <p:pic>
          <p:nvPicPr>
            <p:cNvPr descr="drv2605l.jpeg" id="270" name="Google Shape;270;p34"/>
            <p:cNvPicPr preferRelativeResize="0"/>
            <p:nvPr/>
          </p:nvPicPr>
          <p:blipFill rotWithShape="1">
            <a:blip r:embed="rId4">
              <a:alphaModFix/>
            </a:blip>
            <a:srcRect b="0" l="0" r="0" t="0"/>
            <a:stretch/>
          </p:blipFill>
          <p:spPr>
            <a:xfrm>
              <a:off x="6350" y="0"/>
              <a:ext cx="6409049" cy="4800600"/>
            </a:xfrm>
            <a:prstGeom prst="rect">
              <a:avLst/>
            </a:prstGeom>
            <a:noFill/>
            <a:ln cap="flat" cmpd="sng" w="12700">
              <a:solidFill>
                <a:srgbClr val="F3F7F5"/>
              </a:solidFill>
              <a:prstDash val="solid"/>
              <a:miter lim="4000"/>
              <a:headEnd len="sm" w="sm" type="none"/>
              <a:tailEnd len="sm" w="sm" type="none"/>
            </a:ln>
          </p:spPr>
        </p:pic>
        <p:sp>
          <p:nvSpPr>
            <p:cNvPr id="271" name="Google Shape;271;p34"/>
            <p:cNvSpPr/>
            <p:nvPr/>
          </p:nvSpPr>
          <p:spPr>
            <a:xfrm>
              <a:off x="0" y="4908550"/>
              <a:ext cx="6421749" cy="1143000"/>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DRV2605L Haptic Motor Controller </a:t>
              </a:r>
              <a:r>
                <a:rPr b="0" i="1" lang="en-US" sz="3000" u="none" cap="none" strike="noStrike">
                  <a:solidFill>
                    <a:srgbClr val="838787"/>
                  </a:solidFill>
                  <a:latin typeface="Avenir"/>
                  <a:ea typeface="Avenir"/>
                  <a:cs typeface="Avenir"/>
                  <a:sym typeface="Avenir"/>
                </a:rPr>
                <a:t>adafruit</a:t>
              </a:r>
              <a:endParaRPr/>
            </a:p>
          </p:txBody>
        </p:sp>
      </p:grpSp>
    </p:spTree>
  </p:cSld>
  <p:clrMapOvr>
    <a:masterClrMapping/>
  </p:clrMapOvr>
  <mc:AlternateContent>
    <mc:Choice Requires="p14">
      <p:transition spd="slow" p14:dur="15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277" name="Google Shape;277;p35"/>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LOW LEVEL DIAGRAM</a:t>
            </a:r>
            <a:endParaRPr/>
          </a:p>
        </p:txBody>
      </p:sp>
      <p:grpSp>
        <p:nvGrpSpPr>
          <p:cNvPr id="278" name="Google Shape;278;p35"/>
          <p:cNvGrpSpPr/>
          <p:nvPr/>
        </p:nvGrpSpPr>
        <p:grpSpPr>
          <a:xfrm>
            <a:off x="762000" y="3924299"/>
            <a:ext cx="22860001" cy="6376626"/>
            <a:chOff x="0" y="0"/>
            <a:chExt cx="22859999" cy="6376625"/>
          </a:xfrm>
        </p:grpSpPr>
        <p:pic>
          <p:nvPicPr>
            <p:cNvPr descr="Screenshot 2021-12-09 at 7.19.31 AM.png" id="279" name="Google Shape;279;p35"/>
            <p:cNvPicPr preferRelativeResize="0"/>
            <p:nvPr/>
          </p:nvPicPr>
          <p:blipFill rotWithShape="1">
            <a:blip r:embed="rId3">
              <a:alphaModFix/>
            </a:blip>
            <a:srcRect b="0" l="0" r="0" t="0"/>
            <a:stretch/>
          </p:blipFill>
          <p:spPr>
            <a:xfrm>
              <a:off x="0" y="0"/>
              <a:ext cx="22859999" cy="5652725"/>
            </a:xfrm>
            <a:prstGeom prst="rect">
              <a:avLst/>
            </a:prstGeom>
            <a:noFill/>
            <a:ln>
              <a:noFill/>
            </a:ln>
          </p:spPr>
        </p:pic>
        <p:sp>
          <p:nvSpPr>
            <p:cNvPr id="280" name="Google Shape;280;p35"/>
            <p:cNvSpPr/>
            <p:nvPr/>
          </p:nvSpPr>
          <p:spPr>
            <a:xfrm>
              <a:off x="0" y="5754324"/>
              <a:ext cx="22859999"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Low level diagram of computation</a:t>
              </a:r>
              <a:endParaRPr/>
            </a:p>
          </p:txBody>
        </p:sp>
      </p:grpSp>
    </p:spTree>
  </p:cSld>
  <p:clrMapOvr>
    <a:masterClrMapping/>
  </p:clrMapOvr>
  <mc:AlternateContent>
    <mc:Choice Requires="p14">
      <p:transition spd="slow" p14:dur="15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286" name="Google Shape;286;p36"/>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PROTOTYPE</a:t>
            </a:r>
            <a:endParaRPr/>
          </a:p>
        </p:txBody>
      </p:sp>
      <p:pic>
        <p:nvPicPr>
          <p:cNvPr descr="2328FCAC-10E8-4F47-9681-CE5098111D5A.jpeg" id="287" name="Google Shape;287;p36"/>
          <p:cNvPicPr preferRelativeResize="0"/>
          <p:nvPr/>
        </p:nvPicPr>
        <p:blipFill rotWithShape="1">
          <a:blip r:embed="rId4">
            <a:alphaModFix/>
          </a:blip>
          <a:srcRect b="0" l="0" r="0" t="0"/>
          <a:stretch/>
        </p:blipFill>
        <p:spPr>
          <a:xfrm>
            <a:off x="16770976" y="4610854"/>
            <a:ext cx="4976960" cy="6635946"/>
          </a:xfrm>
          <a:prstGeom prst="rect">
            <a:avLst/>
          </a:prstGeom>
          <a:noFill/>
          <a:ln cap="flat" cmpd="sng" w="12700">
            <a:solidFill>
              <a:srgbClr val="F3F7F5"/>
            </a:solidFill>
            <a:prstDash val="solid"/>
            <a:miter lim="4000"/>
            <a:headEnd len="sm" w="sm" type="none"/>
            <a:tailEnd len="sm" w="sm" type="none"/>
          </a:ln>
        </p:spPr>
      </p:pic>
      <p:sp>
        <p:nvSpPr>
          <p:cNvPr id="288" name="Google Shape;288;p36"/>
          <p:cNvSpPr/>
          <p:nvPr/>
        </p:nvSpPr>
        <p:spPr>
          <a:xfrm>
            <a:off x="16764626" y="11354749"/>
            <a:ext cx="4989660"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Device affixed onto hand</a:t>
            </a:r>
            <a:endParaRPr/>
          </a:p>
        </p:txBody>
      </p:sp>
      <p:pic>
        <p:nvPicPr>
          <p:cNvPr descr="89A045C8-E84A-424C-88CC-540E80ECC80E.jpeg" id="289" name="Google Shape;289;p36"/>
          <p:cNvPicPr preferRelativeResize="0"/>
          <p:nvPr/>
        </p:nvPicPr>
        <p:blipFill rotWithShape="1">
          <a:blip r:embed="rId5">
            <a:alphaModFix/>
          </a:blip>
          <a:srcRect b="0" l="0" r="0" t="0"/>
          <a:stretch/>
        </p:blipFill>
        <p:spPr>
          <a:xfrm>
            <a:off x="854438" y="4610854"/>
            <a:ext cx="8847929" cy="6635946"/>
          </a:xfrm>
          <a:prstGeom prst="rect">
            <a:avLst/>
          </a:prstGeom>
          <a:noFill/>
          <a:ln cap="flat" cmpd="sng" w="12700">
            <a:solidFill>
              <a:srgbClr val="F3F7F5"/>
            </a:solidFill>
            <a:prstDash val="solid"/>
            <a:miter lim="4000"/>
            <a:headEnd len="sm" w="sm" type="none"/>
            <a:tailEnd len="sm" w="sm" type="none"/>
          </a:ln>
        </p:spPr>
      </p:pic>
      <p:sp>
        <p:nvSpPr>
          <p:cNvPr id="290" name="Google Shape;290;p36"/>
          <p:cNvSpPr/>
          <p:nvPr/>
        </p:nvSpPr>
        <p:spPr>
          <a:xfrm>
            <a:off x="848088" y="11354749"/>
            <a:ext cx="8860629"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Device affixed onto hand</a:t>
            </a:r>
            <a:endParaRPr/>
          </a:p>
        </p:txBody>
      </p:sp>
      <p:pic>
        <p:nvPicPr>
          <p:cNvPr descr="91A7EC55-70EE-4959-A9F0-5306C45E9DED.jpeg" id="291" name="Google Shape;291;p36"/>
          <p:cNvPicPr preferRelativeResize="0"/>
          <p:nvPr/>
        </p:nvPicPr>
        <p:blipFill rotWithShape="1">
          <a:blip r:embed="rId6">
            <a:alphaModFix/>
          </a:blip>
          <a:srcRect b="0" l="0" r="0" t="0"/>
          <a:stretch/>
        </p:blipFill>
        <p:spPr>
          <a:xfrm rot="-5400000">
            <a:off x="1960429" y="4208898"/>
            <a:ext cx="6635947" cy="8847929"/>
          </a:xfrm>
          <a:prstGeom prst="rect">
            <a:avLst/>
          </a:prstGeom>
          <a:noFill/>
          <a:ln cap="flat" cmpd="sng" w="12700">
            <a:solidFill>
              <a:srgbClr val="F3F7F5"/>
            </a:solidFill>
            <a:prstDash val="solid"/>
            <a:miter lim="4000"/>
            <a:headEnd len="sm" w="sm" type="none"/>
            <a:tailEnd len="sm" w="sm" type="none"/>
          </a:ln>
        </p:spPr>
      </p:pic>
      <p:sp>
        <p:nvSpPr>
          <p:cNvPr id="292" name="Google Shape;292;p36"/>
          <p:cNvSpPr/>
          <p:nvPr/>
        </p:nvSpPr>
        <p:spPr>
          <a:xfrm>
            <a:off x="848088" y="12058785"/>
            <a:ext cx="8860629"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Human </a:t>
            </a:r>
            <a:r>
              <a:rPr lang="en-US" sz="3000">
                <a:solidFill>
                  <a:srgbClr val="838787"/>
                </a:solidFill>
                <a:latin typeface="Avenir"/>
                <a:ea typeface="Avenir"/>
                <a:cs typeface="Avenir"/>
                <a:sym typeface="Avenir"/>
              </a:rPr>
              <a:t>h</a:t>
            </a:r>
            <a:r>
              <a:rPr b="0" i="0" lang="en-US" sz="3000" u="none" cap="none" strike="noStrike">
                <a:solidFill>
                  <a:srgbClr val="838787"/>
                </a:solidFill>
                <a:latin typeface="Avenir"/>
                <a:ea typeface="Avenir"/>
                <a:cs typeface="Avenir"/>
                <a:sym typeface="Avenir"/>
              </a:rPr>
              <a:t>and model with peripheral nerves and tendons</a:t>
            </a:r>
            <a:endParaRPr/>
          </a:p>
        </p:txBody>
      </p:sp>
      <p:pic>
        <p:nvPicPr>
          <p:cNvPr descr="D89932D3-EE35-4FC9-8D2F-F5A55AB959E7.jpeg" id="293" name="Google Shape;293;p36"/>
          <p:cNvPicPr preferRelativeResize="0"/>
          <p:nvPr/>
        </p:nvPicPr>
        <p:blipFill rotWithShape="1">
          <a:blip r:embed="rId7">
            <a:alphaModFix/>
          </a:blip>
          <a:srcRect b="0" l="0" r="0" t="0"/>
          <a:stretch/>
        </p:blipFill>
        <p:spPr>
          <a:xfrm rot="-5400000">
            <a:off x="15941482" y="4208899"/>
            <a:ext cx="6635947" cy="8847927"/>
          </a:xfrm>
          <a:prstGeom prst="rect">
            <a:avLst/>
          </a:prstGeom>
          <a:noFill/>
          <a:ln cap="flat" cmpd="sng" w="12700">
            <a:solidFill>
              <a:srgbClr val="F3F7F5"/>
            </a:solidFill>
            <a:prstDash val="solid"/>
            <a:miter lim="4000"/>
            <a:headEnd len="sm" w="sm" type="none"/>
            <a:tailEnd len="sm" w="sm" type="none"/>
          </a:ln>
        </p:spPr>
      </p:pic>
      <p:sp>
        <p:nvSpPr>
          <p:cNvPr id="294" name="Google Shape;294;p36"/>
          <p:cNvSpPr/>
          <p:nvPr/>
        </p:nvSpPr>
        <p:spPr>
          <a:xfrm>
            <a:off x="14829142" y="12058785"/>
            <a:ext cx="8860627" cy="622301"/>
          </a:xfrm>
          <a:prstGeom prst="roundRect">
            <a:avLst>
              <a:gd fmla="val 0" name="adj"/>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38787"/>
              </a:buClr>
              <a:buSzPts val="3000"/>
              <a:buFont typeface="Avenir"/>
              <a:buNone/>
            </a:pPr>
            <a:r>
              <a:rPr b="0" i="0" lang="en-US" sz="3000" u="none" cap="none" strike="noStrike">
                <a:solidFill>
                  <a:srgbClr val="838787"/>
                </a:solidFill>
                <a:latin typeface="Avenir"/>
                <a:ea typeface="Avenir"/>
                <a:cs typeface="Avenir"/>
                <a:sym typeface="Avenir"/>
              </a:rPr>
              <a:t>Prototype device</a:t>
            </a:r>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91"/>
                                        </p:tgtEl>
                                      </p:cBhvr>
                                    </p:animEffect>
                                    <p:set>
                                      <p:cBhvr>
                                        <p:cTn dur="1" fill="hold">
                                          <p:stCondLst>
                                            <p:cond delay="1000"/>
                                          </p:stCondLst>
                                        </p:cTn>
                                        <p:tgtEl>
                                          <p:spTgt spid="29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92"/>
                                        </p:tgtEl>
                                      </p:cBhvr>
                                    </p:animEffect>
                                    <p:set>
                                      <p:cBhvr>
                                        <p:cTn dur="1" fill="hold">
                                          <p:stCondLst>
                                            <p:cond delay="1000"/>
                                          </p:stCondLst>
                                        </p:cTn>
                                        <p:tgtEl>
                                          <p:spTgt spid="292"/>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293"/>
                                        </p:tgtEl>
                                      </p:cBhvr>
                                    </p:animEffect>
                                    <p:set>
                                      <p:cBhvr>
                                        <p:cTn dur="1" fill="hold">
                                          <p:stCondLst>
                                            <p:cond delay="1000"/>
                                          </p:stCondLst>
                                        </p:cTn>
                                        <p:tgtEl>
                                          <p:spTgt spid="29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94"/>
                                        </p:tgtEl>
                                      </p:cBhvr>
                                    </p:animEffect>
                                    <p:set>
                                      <p:cBhvr>
                                        <p:cTn dur="1" fill="hold">
                                          <p:stCondLst>
                                            <p:cond delay="1000"/>
                                          </p:stCondLst>
                                        </p:cTn>
                                        <p:tgtEl>
                                          <p:spTgt spid="294"/>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7"/>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300" name="Google Shape;300;p37"/>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FUTURE PLANS</a:t>
            </a:r>
            <a:endParaRPr/>
          </a:p>
        </p:txBody>
      </p:sp>
      <p:sp>
        <p:nvSpPr>
          <p:cNvPr id="301" name="Google Shape;301;p37"/>
          <p:cNvSpPr txBox="1"/>
          <p:nvPr>
            <p:ph idx="2" type="body"/>
          </p:nvPr>
        </p:nvSpPr>
        <p:spPr>
          <a:xfrm>
            <a:off x="762000" y="3860800"/>
            <a:ext cx="22860000" cy="8585200"/>
          </a:xfrm>
          <a:prstGeom prst="rect">
            <a:avLst/>
          </a:prstGeom>
          <a:noFill/>
          <a:ln>
            <a:noFill/>
          </a:ln>
        </p:spPr>
        <p:txBody>
          <a:bodyPr anchorCtr="0" anchor="t" bIns="50800" lIns="50800" spcFirstLastPara="1" rIns="50800" wrap="square" tIns="50800">
            <a:normAutofit/>
          </a:bodyPr>
          <a:lstStyle/>
          <a:p>
            <a:pPr indent="-635000" lvl="0" marL="635000" rtl="0" algn="l">
              <a:lnSpc>
                <a:spcPct val="100000"/>
              </a:lnSpc>
              <a:spcBef>
                <a:spcPts val="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Distinguish between Essential tremor and resting tremor in P.D. patients</a:t>
            </a:r>
            <a:endParaRPr/>
          </a:p>
          <a:p>
            <a:pPr indent="-635000" lvl="1" marL="1270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Added suppression of Essential tremor</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Assign UPDRS scores to classifications</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Tracking disease progression</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BLE updates to phone</a:t>
            </a:r>
            <a:endParaRPr/>
          </a:p>
          <a:p>
            <a:pPr indent="-635000" lvl="0" marL="635000" rtl="0" algn="l">
              <a:lnSpc>
                <a:spcPct val="100000"/>
              </a:lnSpc>
              <a:spcBef>
                <a:spcPts val="3900"/>
              </a:spcBef>
              <a:spcAft>
                <a:spcPts val="0"/>
              </a:spcAft>
              <a:buSzPts val="5040"/>
              <a:buChar char="▸"/>
            </a:pPr>
            <a:r>
              <a:rPr b="0" i="0" lang="en-US" sz="4800" u="none" cap="none" strike="noStrike">
                <a:solidFill>
                  <a:srgbClr val="838787"/>
                </a:solidFill>
                <a:latin typeface="Times New Roman"/>
                <a:ea typeface="Times New Roman"/>
                <a:cs typeface="Times New Roman"/>
                <a:sym typeface="Times New Roman"/>
              </a:rPr>
              <a:t>Upload collected data to cloud for future re-training</a:t>
            </a:r>
            <a:endParaRPr/>
          </a:p>
        </p:txBody>
      </p:sp>
    </p:spTree>
  </p:cSld>
  <p:clrMapOvr>
    <a:masterClrMapping/>
  </p:clrMapOvr>
  <mc:AlternateContent>
    <mc:Choice Requires="p14">
      <p:transition spd="slow" p14:dur="20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ph idx="1" type="body"/>
          </p:nvPr>
        </p:nvSpPr>
        <p:spPr>
          <a:xfrm>
            <a:off x="762000" y="635000"/>
            <a:ext cx="20955000" cy="635000"/>
          </a:xfrm>
          <a:prstGeom prst="rect">
            <a:avLst/>
          </a:prstGeom>
          <a:noFill/>
          <a:ln>
            <a:noFill/>
          </a:ln>
        </p:spPr>
        <p:txBody>
          <a:bodyPr anchorCtr="0" anchor="b" bIns="50800" lIns="50800" spcFirstLastPara="1" rIns="50800" wrap="square" tIns="50800">
            <a:spAutoFit/>
          </a:bodyPr>
          <a:lstStyle/>
          <a:p>
            <a:pPr indent="0" lvl="0" marL="0" rtl="0" algn="l">
              <a:lnSpc>
                <a:spcPct val="80000"/>
              </a:lnSpc>
              <a:spcBef>
                <a:spcPts val="0"/>
              </a:spcBef>
              <a:spcAft>
                <a:spcPts val="0"/>
              </a:spcAft>
              <a:buSzPts val="3600"/>
              <a:buNone/>
            </a:pPr>
            <a:r>
              <a:rPr lang="en-US" sz="3600" cap="none">
                <a:latin typeface="Arial"/>
                <a:ea typeface="Arial"/>
                <a:cs typeface="Arial"/>
                <a:sym typeface="Arial"/>
              </a:rPr>
              <a:t>RESTING TREMOR SUPPRESSION DEVICE</a:t>
            </a:r>
            <a:endParaRPr/>
          </a:p>
        </p:txBody>
      </p:sp>
      <p:sp>
        <p:nvSpPr>
          <p:cNvPr id="307" name="Google Shape;307;p38"/>
          <p:cNvSpPr txBox="1"/>
          <p:nvPr>
            <p:ph type="title"/>
          </p:nvPr>
        </p:nvSpPr>
        <p:spPr>
          <a:xfrm>
            <a:off x="762000" y="2159000"/>
            <a:ext cx="22860000" cy="1016000"/>
          </a:xfrm>
          <a:prstGeom prst="rect">
            <a:avLst/>
          </a:prstGeom>
          <a:noFill/>
          <a:ln>
            <a:noFill/>
          </a:ln>
        </p:spPr>
        <p:txBody>
          <a:bodyPr anchorCtr="0" anchor="t" bIns="50800" lIns="50800" spcFirstLastPara="1" rIns="50800" wrap="square" tIns="50800">
            <a:normAutofit/>
          </a:bodyPr>
          <a:lstStyle/>
          <a:p>
            <a:pPr indent="0" lvl="0" marL="0" marR="0" rtl="0" algn="l">
              <a:lnSpc>
                <a:spcPct val="80000"/>
              </a:lnSpc>
              <a:spcBef>
                <a:spcPts val="0"/>
              </a:spcBef>
              <a:spcAft>
                <a:spcPts val="0"/>
              </a:spcAft>
              <a:buClr>
                <a:schemeClr val="accent1"/>
              </a:buClr>
              <a:buSzPts val="7221"/>
              <a:buFont typeface="Arial"/>
              <a:buNone/>
            </a:pPr>
            <a:r>
              <a:rPr lang="en-US" sz="7221"/>
              <a:t>REFERENCES</a:t>
            </a:r>
            <a:endParaRPr/>
          </a:p>
        </p:txBody>
      </p:sp>
      <p:sp>
        <p:nvSpPr>
          <p:cNvPr id="308" name="Google Shape;308;p38"/>
          <p:cNvSpPr txBox="1"/>
          <p:nvPr>
            <p:ph idx="2" type="body"/>
          </p:nvPr>
        </p:nvSpPr>
        <p:spPr>
          <a:xfrm>
            <a:off x="762000" y="3886200"/>
            <a:ext cx="22860000" cy="9767182"/>
          </a:xfrm>
          <a:prstGeom prst="rect">
            <a:avLst/>
          </a:prstGeom>
          <a:noFill/>
          <a:ln>
            <a:noFill/>
          </a:ln>
        </p:spPr>
        <p:txBody>
          <a:bodyPr anchorCtr="0" anchor="t" bIns="50800" lIns="50800" spcFirstLastPara="1" rIns="50800" wrap="square" tIns="50800">
            <a:normAutofit/>
          </a:bodyPr>
          <a:lstStyle/>
          <a:p>
            <a:pPr indent="-285750" lvl="0" marL="285750" rtl="0" algn="l">
              <a:lnSpc>
                <a:spcPct val="100000"/>
              </a:lnSpc>
              <a:spcBef>
                <a:spcPts val="0"/>
              </a:spcBef>
              <a:spcAft>
                <a:spcPts val="0"/>
              </a:spcAft>
              <a:buSzPts val="2267"/>
              <a:buChar char="▸"/>
            </a:pPr>
            <a:r>
              <a:rPr lang="en-US" sz="2159"/>
              <a:t> </a:t>
            </a:r>
            <a:r>
              <a:rPr i="1" lang="en-US" sz="2000"/>
              <a:t>Better lives. together.</a:t>
            </a:r>
            <a:r>
              <a:rPr lang="en-US" sz="2000"/>
              <a:t> Parkinson's Foundation. (n.d.). Retrieved December 13, 2021, from https://www.parkinson.org/?gclid=CjwKCAjw7--KBhAMEiwAxfpkWGUFDZdNUkjpQK2UfgomqH_siVChfxAtLQhK4Ly7Qfo_dfQNywysVRoCka0QAvD_BwE&amp;utm_source=google&amp;utm_medium=adgrant&amp;utm_campaign=&amp;utm_term=parkinson%27s+disease. </a:t>
            </a:r>
            <a:endParaRPr sz="2000"/>
          </a:p>
          <a:p>
            <a:pPr indent="-268800" lvl="0" marL="285750" rtl="0" algn="l">
              <a:lnSpc>
                <a:spcPct val="100000"/>
              </a:lnSpc>
              <a:spcBef>
                <a:spcPts val="1700"/>
              </a:spcBef>
              <a:spcAft>
                <a:spcPts val="0"/>
              </a:spcAft>
              <a:buSzPts val="2000"/>
              <a:buChar char="▸"/>
            </a:pPr>
            <a:r>
              <a:rPr lang="en-US" sz="2000"/>
              <a:t> Nelson, A. (n.d.). </a:t>
            </a:r>
            <a:r>
              <a:rPr i="1" lang="en-US" sz="2000"/>
              <a:t>Parkinson's tremors: Types, symptoms, and treatment</a:t>
            </a:r>
            <a:r>
              <a:rPr lang="en-US" sz="2000"/>
              <a:t>. WebMD. Retrieved December 13, 2021, from https://www.webmd.com/parkinsons-disease/parkinsons-tremors. </a:t>
            </a:r>
            <a:endParaRPr sz="2000"/>
          </a:p>
          <a:p>
            <a:pPr indent="-268800" lvl="0" marL="285750" rtl="0" algn="l">
              <a:lnSpc>
                <a:spcPct val="100000"/>
              </a:lnSpc>
              <a:spcBef>
                <a:spcPts val="1700"/>
              </a:spcBef>
              <a:spcAft>
                <a:spcPts val="0"/>
              </a:spcAft>
              <a:buSzPts val="2000"/>
              <a:buChar char="▸"/>
            </a:pPr>
            <a:r>
              <a:rPr lang="en-US" sz="2000"/>
              <a:t> Tass P;Smirnov D;Karavaev A;Barnikol U;Barnikol T;Adamchic I;Hauptmann C;Pawelcyzk N;Maarouf M;Sturm V;Freund HJ;Bezruchko B; (n.d.). </a:t>
            </a:r>
            <a:r>
              <a:rPr i="1" lang="en-US" sz="2000"/>
              <a:t>The causal relationship between subcortical local field potential oscillations and Parkinsonian resting tremor</a:t>
            </a:r>
            <a:r>
              <a:rPr lang="en-US" sz="2000"/>
              <a:t>. Journal of neural engineering. Retrieved December 13, 2021, from https://pubmed.ncbi.nlm.nih.gov/20083863/. </a:t>
            </a:r>
            <a:endParaRPr sz="2000"/>
          </a:p>
          <a:p>
            <a:pPr indent="-268800" lvl="0" marL="285750" rtl="0" algn="l">
              <a:lnSpc>
                <a:spcPct val="100000"/>
              </a:lnSpc>
              <a:spcBef>
                <a:spcPts val="1700"/>
              </a:spcBef>
              <a:spcAft>
                <a:spcPts val="0"/>
              </a:spcAft>
              <a:buSzPts val="2000"/>
              <a:buChar char="▸"/>
            </a:pPr>
            <a:r>
              <a:rPr lang="en-US" sz="2000"/>
              <a:t> </a:t>
            </a:r>
            <a:r>
              <a:rPr i="1" lang="en-US" sz="2000"/>
              <a:t>Muscles that move the wrist: Acland's video atlas of human anatomy</a:t>
            </a:r>
            <a:r>
              <a:rPr lang="en-US" sz="2000"/>
              <a:t>. Muscles that move the wrist | Acland's Video Atlas of Human Anatomy. (n.d.). Retrieved December 13, 2021, from https://aclandanatomy.com/multimediaplayer.aspx?multimediaid=10528077. </a:t>
            </a:r>
            <a:endParaRPr sz="2000"/>
          </a:p>
          <a:p>
            <a:pPr indent="-268800" lvl="0" marL="285750" rtl="0" algn="l">
              <a:lnSpc>
                <a:spcPct val="100000"/>
              </a:lnSpc>
              <a:spcBef>
                <a:spcPts val="1700"/>
              </a:spcBef>
              <a:spcAft>
                <a:spcPts val="0"/>
              </a:spcAft>
              <a:buSzPts val="2000"/>
              <a:buChar char="▸"/>
            </a:pPr>
            <a:r>
              <a:rPr lang="en-US" sz="2000"/>
              <a:t> </a:t>
            </a:r>
            <a:r>
              <a:rPr i="1" lang="en-US" sz="2000"/>
              <a:t>Principles of electrophysiological assessments for movement disorders</a:t>
            </a:r>
            <a:r>
              <a:rPr lang="en-US" sz="2000"/>
              <a:t>. Journal of Movement Disorders. (n.d.). Retrieved December 13, 2021, from https://www.e-jmd.org/journal/view.php?number=273. </a:t>
            </a:r>
            <a:endParaRPr sz="2000"/>
          </a:p>
          <a:p>
            <a:pPr indent="-268800" lvl="0" marL="285750" rtl="0" algn="l">
              <a:lnSpc>
                <a:spcPct val="100000"/>
              </a:lnSpc>
              <a:spcBef>
                <a:spcPts val="1700"/>
              </a:spcBef>
              <a:spcAft>
                <a:spcPts val="0"/>
              </a:spcAft>
              <a:buSzPts val="2000"/>
              <a:buChar char="▸"/>
            </a:pPr>
            <a:r>
              <a:rPr lang="en-US" sz="2000"/>
              <a:t> Gallego, J. A., Dideriksen, J. L., Holobar, A., Ibáñez, J., Glaser, V., Romero, J. P., Benito-León, J., Pons, J. L., Rocon, E., &amp; Farina, D. (2015, June 10). The phase difference between neural drives to antagonist muscles in essential tremor is associated with the relative strength of supraspinal and afferent input. Journal of Neuroscience. Retrieved December 13, 2021, from https://www.jneurosci.org/content/35/23/8925. </a:t>
            </a:r>
            <a:endParaRPr sz="2000"/>
          </a:p>
          <a:p>
            <a:pPr indent="-268800" lvl="0" marL="285750" rtl="0" algn="l">
              <a:lnSpc>
                <a:spcPct val="100000"/>
              </a:lnSpc>
              <a:spcBef>
                <a:spcPts val="1700"/>
              </a:spcBef>
              <a:spcAft>
                <a:spcPts val="0"/>
              </a:spcAft>
              <a:buSzPts val="2000"/>
              <a:buChar char="▸"/>
            </a:pPr>
            <a:r>
              <a:rPr lang="en-US" sz="2000"/>
              <a:t> </a:t>
            </a:r>
            <a:r>
              <a:rPr i="1" lang="en-US" sz="2000"/>
              <a:t>Different types of electrical stimulation – the name game</a:t>
            </a:r>
            <a:r>
              <a:rPr lang="en-US" sz="2000"/>
              <a:t>. Myolyn. (2020, March 12). Retrieved December 13, 2021, from https://myolyn.com/different-types-of-electrical-stimulation-the-name-game/. </a:t>
            </a:r>
            <a:endParaRPr sz="2000"/>
          </a:p>
          <a:p>
            <a:pPr indent="-268800" lvl="0" marL="285750" rtl="0" algn="l">
              <a:lnSpc>
                <a:spcPct val="100000"/>
              </a:lnSpc>
              <a:spcBef>
                <a:spcPts val="1700"/>
              </a:spcBef>
              <a:spcAft>
                <a:spcPts val="0"/>
              </a:spcAft>
              <a:buSzPts val="2000"/>
              <a:buChar char="▸"/>
            </a:pPr>
            <a:r>
              <a:rPr lang="en-US" sz="2000"/>
              <a:t> Hao, M.-Z., Xu, S.-Q., Hu, Z.-X., Xu, F.-L., Niu, C.-X. M., Xiao, Q., &amp; Lan, N. (2017, July 14). Inhibition of parkinsonian tremor with cutaneous afferent evoked by transcutaneous electrical nerve stimulation - journal of Neuroengineering and Rehabilitation. BioMed Central. Retrieved December 13, 2021, from https://jneuroengrehab.biomedcentral.com/articles/10.1186/s12984-017-0286-2. </a:t>
            </a:r>
            <a:endParaRPr sz="2000"/>
          </a:p>
          <a:p>
            <a:pPr indent="-268800" lvl="0" marL="285750" rtl="0" algn="l">
              <a:lnSpc>
                <a:spcPct val="100000"/>
              </a:lnSpc>
              <a:spcBef>
                <a:spcPts val="1700"/>
              </a:spcBef>
              <a:spcAft>
                <a:spcPts val="0"/>
              </a:spcAft>
              <a:buSzPts val="2000"/>
              <a:buChar char="▸"/>
            </a:pPr>
            <a:r>
              <a:rPr lang="en-US" sz="2000"/>
              <a:t> Pascual-Valdunciel, A., Hoo, G. W., Avrillon, S., Barroso, F. O., Goldman, J. G., Hernandez-Pavon, J. C., &amp; Pons, J. L. (2021, February 15). </a:t>
            </a:r>
            <a:r>
              <a:rPr i="1" lang="en-US" sz="2000"/>
              <a:t>Peripheral electrical stimulation to reduce pathological tremor: A Review - Journal of Neuroengineering and Rehabilitation</a:t>
            </a:r>
            <a:r>
              <a:rPr lang="en-US" sz="2000"/>
              <a:t>. BioMed Central. Retrieved December 13, 2021, from https://jneuroengrehab.biomedcentral.com/articles/10.1186/s12984-021-00811-9. </a:t>
            </a:r>
            <a:endParaRPr sz="2000"/>
          </a:p>
          <a:p>
            <a:pPr indent="-268800" lvl="0" marL="285750" rtl="0" algn="l">
              <a:lnSpc>
                <a:spcPct val="100000"/>
              </a:lnSpc>
              <a:spcBef>
                <a:spcPts val="1700"/>
              </a:spcBef>
              <a:spcAft>
                <a:spcPts val="0"/>
              </a:spcAft>
              <a:buSzPts val="2000"/>
              <a:buChar char="▸"/>
            </a:pPr>
            <a:r>
              <a:rPr lang="en-US" sz="2000"/>
              <a:t> R;, J. O. T. C. A. C. B. (n.d.). Tremor's glove-an innovative electrical muscle stimulation therapy for intractable tremor in parkinson's disease: A randomized sham-controlled trial. Journal of the neurological sciences. Retrieved December 13, 2021, from https://pubmed.ncbi.nlm.nih.gov/28991711/. </a:t>
            </a:r>
            <a:endParaRPr sz="2000"/>
          </a:p>
          <a:p>
            <a:pPr indent="-268800" lvl="0" marL="285750" rtl="0" algn="l">
              <a:lnSpc>
                <a:spcPct val="100000"/>
              </a:lnSpc>
              <a:spcBef>
                <a:spcPts val="1700"/>
              </a:spcBef>
              <a:spcAft>
                <a:spcPts val="0"/>
              </a:spcAft>
              <a:buSzPts val="2000"/>
              <a:buChar char="▸"/>
            </a:pPr>
            <a:r>
              <a:rPr lang="en-US" sz="2000"/>
              <a:t> </a:t>
            </a:r>
            <a:r>
              <a:rPr i="1" lang="en-US" sz="2000"/>
              <a:t>Project emma</a:t>
            </a:r>
            <a:r>
              <a:rPr lang="en-US" sz="2000"/>
              <a:t>. Microsoft Research. (2020, November 12). Retrieved December 13, 2021, from https://www.microsoft.com/en-us/research/project/project-emma/#!news-and-awards. </a:t>
            </a:r>
            <a:endParaRPr sz="2000"/>
          </a:p>
          <a:p>
            <a:pPr indent="-268800" lvl="0" marL="285750" rtl="0" algn="l">
              <a:lnSpc>
                <a:spcPct val="100000"/>
              </a:lnSpc>
              <a:spcBef>
                <a:spcPts val="1700"/>
              </a:spcBef>
              <a:spcAft>
                <a:spcPts val="0"/>
              </a:spcAft>
              <a:buSzPts val="2000"/>
              <a:buChar char="▸"/>
            </a:pPr>
            <a:r>
              <a:rPr lang="en-US" sz="2000"/>
              <a:t> Kim, J., Wichmann, T., Inan, O. T., &amp; Deweerth, S. P. (2020, April 6). </a:t>
            </a:r>
            <a:r>
              <a:rPr i="1" lang="en-US" sz="2000"/>
              <a:t>A wearable system for attenuating essential tremor based on peripheral nerve stimulation</a:t>
            </a:r>
            <a:r>
              <a:rPr lang="en-US" sz="2000"/>
              <a:t>. IEEE journal of translational engineering in health and medicine. Retrieved December 13, 2021, from </a:t>
            </a:r>
            <a:r>
              <a:rPr lang="en-US" sz="2000" u="sng">
                <a:solidFill>
                  <a:schemeClr val="hlink"/>
                </a:solidFill>
                <a:hlinkClick r:id="rId3"/>
              </a:rPr>
              <a:t>https://www.ncbi.nlm.nih.gov/pmc/articles/PMC7313727/</a:t>
            </a:r>
            <a:r>
              <a:rPr lang="en-US" sz="2000"/>
              <a:t>. </a:t>
            </a:r>
            <a:endParaRPr sz="2000"/>
          </a:p>
        </p:txBody>
      </p:sp>
    </p:spTree>
  </p:cSld>
  <p:clrMapOvr>
    <a:masterClrMapping/>
  </p:clrMapOvr>
  <mc:AlternateContent>
    <mc:Choice Requires="p14">
      <p:transition spd="slow" p14:dur="15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New_Template7">
  <a:themeElements>
    <a:clrScheme name="New_Template7">
      <a:dk1>
        <a:srgbClr val="222222"/>
      </a:dk1>
      <a:lt1>
        <a:srgbClr val="838787"/>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w_Template7">
  <a:themeElements>
    <a:clrScheme name="New_Template7">
      <a:dk1>
        <a:srgbClr val="000000"/>
      </a:dk1>
      <a:lt1>
        <a:srgbClr val="FFFFFF"/>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